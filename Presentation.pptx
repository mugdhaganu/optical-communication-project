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26"/>
  </p:notesMasterIdLst>
  <p:sldIdLst>
    <p:sldId id="256" r:id="rId2"/>
    <p:sldId id="262" r:id="rId3"/>
    <p:sldId id="326" r:id="rId4"/>
    <p:sldId id="318" r:id="rId5"/>
    <p:sldId id="343" r:id="rId6"/>
    <p:sldId id="320" r:id="rId7"/>
    <p:sldId id="345" r:id="rId8"/>
    <p:sldId id="353" r:id="rId9"/>
    <p:sldId id="346" r:id="rId10"/>
    <p:sldId id="347" r:id="rId11"/>
    <p:sldId id="348" r:id="rId12"/>
    <p:sldId id="350" r:id="rId13"/>
    <p:sldId id="354" r:id="rId14"/>
    <p:sldId id="349" r:id="rId15"/>
    <p:sldId id="355" r:id="rId16"/>
    <p:sldId id="344" r:id="rId17"/>
    <p:sldId id="352" r:id="rId18"/>
    <p:sldId id="357" r:id="rId19"/>
    <p:sldId id="335" r:id="rId20"/>
    <p:sldId id="336" r:id="rId21"/>
    <p:sldId id="337" r:id="rId22"/>
    <p:sldId id="338" r:id="rId23"/>
    <p:sldId id="339" r:id="rId24"/>
    <p:sldId id="315"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FF6699"/>
    <a:srgbClr val="A50021"/>
    <a:srgbClr val="0000CC"/>
    <a:srgbClr val="FFFF00"/>
    <a:srgbClr val="66CCFF"/>
    <a:srgbClr val="000066"/>
    <a:srgbClr val="003399"/>
    <a:srgbClr val="66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82" d="100"/>
          <a:sy n="82" d="100"/>
        </p:scale>
        <p:origin x="1253"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E3B2F-057D-4A8D-A8E1-E88D63456BD3}" type="datetimeFigureOut">
              <a:rPr lang="en-US" smtClean="0"/>
              <a:t>6/25/2026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EAFC0C-7CE4-4638-A536-7365364957B8}" type="slidenum">
              <a:rPr lang="en-US" smtClean="0"/>
              <a:t>‹#›</a:t>
            </a:fld>
            <a:endParaRPr lang="en-US" dirty="0"/>
          </a:p>
        </p:txBody>
      </p:sp>
    </p:spTree>
    <p:extLst>
      <p:ext uri="{BB962C8B-B14F-4D97-AF65-F5344CB8AC3E}">
        <p14:creationId xmlns:p14="http://schemas.microsoft.com/office/powerpoint/2010/main" val="215012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2024-2025</a:t>
            </a:r>
          </a:p>
        </p:txBody>
      </p:sp>
      <p:sp>
        <p:nvSpPr>
          <p:cNvPr id="5" name="Footer Placeholder 4"/>
          <p:cNvSpPr>
            <a:spLocks noGrp="1"/>
          </p:cNvSpPr>
          <p:nvPr>
            <p:ph type="ftr" sz="quarter" idx="11"/>
          </p:nvPr>
        </p:nvSpPr>
        <p:spPr/>
        <p:txBody>
          <a:bodyPr/>
          <a:lstStyle/>
          <a:p>
            <a:r>
              <a:rPr kumimoji="0" lang="en-US" dirty="0"/>
              <a:t>Dept. of E&amp;TC, SCOE, Pune</a:t>
            </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423334" y="4529541"/>
            <a:ext cx="584978" cy="365125"/>
          </a:xfrm>
        </p:spPr>
        <p:txBody>
          <a:bodyPr/>
          <a:lstStyle/>
          <a:p>
            <a:fld id="{6F42FDE4-A7DD-41A7-A0A6-9B649FB43336}" type="slidenum">
              <a:rPr kumimoji="0" lang="en-US" smtClean="0"/>
              <a:t>‹#›</a:t>
            </a:fld>
            <a:endParaRPr kumimoji="0" lang="en-US" sz="1400" dirty="0">
              <a:solidFill>
                <a:srgbClr val="FFFFFF"/>
              </a:solidFill>
            </a:endParaRPr>
          </a:p>
        </p:txBody>
      </p:sp>
      <p:pic>
        <p:nvPicPr>
          <p:cNvPr id="7" name="Picture 6">
            <a:extLst>
              <a:ext uri="{FF2B5EF4-FFF2-40B4-BE49-F238E27FC236}">
                <a16:creationId xmlns:a16="http://schemas.microsoft.com/office/drawing/2014/main" id="{32CD4A32-0233-6C92-5F69-0E685EFC86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004" y="145241"/>
            <a:ext cx="1280160" cy="824915"/>
          </a:xfrm>
          <a:prstGeom prst="rect">
            <a:avLst/>
          </a:prstGeom>
          <a:noFill/>
          <a:ln>
            <a:noFill/>
          </a:ln>
        </p:spPr>
      </p:pic>
    </p:spTree>
    <p:extLst>
      <p:ext uri="{BB962C8B-B14F-4D97-AF65-F5344CB8AC3E}">
        <p14:creationId xmlns:p14="http://schemas.microsoft.com/office/powerpoint/2010/main" val="1304729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2024-2025</a:t>
            </a:r>
          </a:p>
        </p:txBody>
      </p:sp>
      <p:sp>
        <p:nvSpPr>
          <p:cNvPr id="5" name="Footer Placeholder 4"/>
          <p:cNvSpPr>
            <a:spLocks noGrp="1"/>
          </p:cNvSpPr>
          <p:nvPr>
            <p:ph type="ftr" sz="quarter" idx="11"/>
          </p:nvPr>
        </p:nvSpPr>
        <p:spPr/>
        <p:txBody>
          <a:bodyPr/>
          <a:lstStyle/>
          <a:p>
            <a:r>
              <a:rPr lang="en-US" dirty="0"/>
              <a:t>Dept. of E&amp;TC, SCOE, Pune</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F42FDE4-A7DD-41A7-A0A6-9B649FB43336}" type="slidenum">
              <a:rPr lang="en-US" smtClean="0"/>
              <a:pPr/>
              <a:t>‹#›</a:t>
            </a:fld>
            <a:endParaRPr lang="en-US" dirty="0"/>
          </a:p>
        </p:txBody>
      </p:sp>
      <p:pic>
        <p:nvPicPr>
          <p:cNvPr id="7" name="Picture 6">
            <a:extLst>
              <a:ext uri="{FF2B5EF4-FFF2-40B4-BE49-F238E27FC236}">
                <a16:creationId xmlns:a16="http://schemas.microsoft.com/office/drawing/2014/main" id="{3E875A7A-C19D-9523-D626-3934D9DDAE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540" y="254424"/>
            <a:ext cx="1188720" cy="764901"/>
          </a:xfrm>
          <a:prstGeom prst="rect">
            <a:avLst/>
          </a:prstGeom>
        </p:spPr>
      </p:pic>
      <p:sp>
        <p:nvSpPr>
          <p:cNvPr id="8" name="Rectangle 7">
            <a:extLst>
              <a:ext uri="{FF2B5EF4-FFF2-40B4-BE49-F238E27FC236}">
                <a16:creationId xmlns:a16="http://schemas.microsoft.com/office/drawing/2014/main" id="{5B920CE2-FFA8-5FFD-634A-925849C67BF6}"/>
              </a:ext>
            </a:extLst>
          </p:cNvPr>
          <p:cNvSpPr/>
          <p:nvPr userDrawn="1"/>
        </p:nvSpPr>
        <p:spPr>
          <a:xfrm>
            <a:off x="67918" y="1195360"/>
            <a:ext cx="9006840" cy="9144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4">
            <a:extLst>
              <a:ext uri="{FF2B5EF4-FFF2-40B4-BE49-F238E27FC236}">
                <a16:creationId xmlns:a16="http://schemas.microsoft.com/office/drawing/2014/main" id="{1D533327-DDC9-AF42-0524-5854AF7A56BA}"/>
              </a:ext>
            </a:extLst>
          </p:cNvPr>
          <p:cNvSpPr txBox="1">
            <a:spLocks/>
          </p:cNvSpPr>
          <p:nvPr userDrawn="1"/>
        </p:nvSpPr>
        <p:spPr>
          <a:xfrm>
            <a:off x="3780624" y="6351896"/>
            <a:ext cx="2194560" cy="365760"/>
          </a:xfrm>
          <a:prstGeom prst="rect">
            <a:avLst/>
          </a:prstGeom>
        </p:spPr>
        <p:txBody>
          <a:bodyPr anchor="ctr" anchorCtr="0"/>
          <a:lstStyle>
            <a:defPPr>
              <a:defRPr lang="en-US"/>
            </a:defPPr>
            <a:lvl1pPr marL="0" algn="l" defTabSz="914400" rtl="0" eaLnBrk="1" latinLnBrk="0" hangingPunct="1">
              <a:defRPr kumimoji="0" sz="1200" i="1" kern="1200">
                <a:solidFill>
                  <a:schemeClr val="tx2"/>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060"/>
                </a:solidFill>
              </a:rPr>
              <a:t>                 BE - E&amp;TC </a:t>
            </a:r>
          </a:p>
        </p:txBody>
      </p:sp>
    </p:spTree>
    <p:extLst>
      <p:ext uri="{BB962C8B-B14F-4D97-AF65-F5344CB8AC3E}">
        <p14:creationId xmlns:p14="http://schemas.microsoft.com/office/powerpoint/2010/main" val="5247625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2024-2025</a:t>
            </a:r>
          </a:p>
        </p:txBody>
      </p:sp>
      <p:sp>
        <p:nvSpPr>
          <p:cNvPr id="5" name="Footer Placeholder 4"/>
          <p:cNvSpPr>
            <a:spLocks noGrp="1"/>
          </p:cNvSpPr>
          <p:nvPr>
            <p:ph type="ftr" sz="quarter" idx="11"/>
          </p:nvPr>
        </p:nvSpPr>
        <p:spPr/>
        <p:txBody>
          <a:bodyPr/>
          <a:lstStyle/>
          <a:p>
            <a:r>
              <a:rPr kumimoji="0" lang="en-US" dirty="0"/>
              <a:t>Dept. of E&amp;TC, SCOE, Pune</a:t>
            </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11228" y="3244140"/>
            <a:ext cx="584978" cy="365125"/>
          </a:xfrm>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3421458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2024-2025</a:t>
            </a:r>
          </a:p>
        </p:txBody>
      </p:sp>
      <p:sp>
        <p:nvSpPr>
          <p:cNvPr id="6" name="Footer Placeholder 5"/>
          <p:cNvSpPr>
            <a:spLocks noGrp="1"/>
          </p:cNvSpPr>
          <p:nvPr>
            <p:ph type="ftr" sz="quarter" idx="11"/>
          </p:nvPr>
        </p:nvSpPr>
        <p:spPr/>
        <p:txBody>
          <a:bodyPr/>
          <a:lstStyle/>
          <a:p>
            <a:r>
              <a:rPr kumimoji="0" lang="en-US" dirty="0"/>
              <a:t>Dept. of E&amp;TC, SCOE, Pune</a:t>
            </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10" name="Slide Number Placeholder 5"/>
          <p:cNvSpPr>
            <a:spLocks noGrp="1"/>
          </p:cNvSpPr>
          <p:nvPr>
            <p:ph type="sldNum" sz="quarter" idx="12"/>
          </p:nvPr>
        </p:nvSpPr>
        <p:spPr>
          <a:xfrm>
            <a:off x="511228" y="787783"/>
            <a:ext cx="584978" cy="365125"/>
          </a:xfrm>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3013464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2024-2025</a:t>
            </a:r>
          </a:p>
        </p:txBody>
      </p:sp>
      <p:sp>
        <p:nvSpPr>
          <p:cNvPr id="8" name="Footer Placeholder 7"/>
          <p:cNvSpPr>
            <a:spLocks noGrp="1"/>
          </p:cNvSpPr>
          <p:nvPr>
            <p:ph type="ftr" sz="quarter" idx="11"/>
          </p:nvPr>
        </p:nvSpPr>
        <p:spPr/>
        <p:txBody>
          <a:bodyPr/>
          <a:lstStyle/>
          <a:p>
            <a:r>
              <a:rPr kumimoji="0" lang="en-US" dirty="0"/>
              <a:t>Dept. of E&amp;TC, SCOE, Pune</a:t>
            </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12" name="Slide Number Placeholder 5"/>
          <p:cNvSpPr>
            <a:spLocks noGrp="1"/>
          </p:cNvSpPr>
          <p:nvPr>
            <p:ph type="sldNum" sz="quarter" idx="12"/>
          </p:nvPr>
        </p:nvSpPr>
        <p:spPr>
          <a:xfrm>
            <a:off x="511228" y="787783"/>
            <a:ext cx="584978" cy="365125"/>
          </a:xfrm>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369185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2024-2025</a:t>
            </a:r>
          </a:p>
        </p:txBody>
      </p:sp>
      <p:sp>
        <p:nvSpPr>
          <p:cNvPr id="4" name="Footer Placeholder 3"/>
          <p:cNvSpPr>
            <a:spLocks noGrp="1"/>
          </p:cNvSpPr>
          <p:nvPr>
            <p:ph type="ftr" sz="quarter" idx="11"/>
          </p:nvPr>
        </p:nvSpPr>
        <p:spPr/>
        <p:txBody>
          <a:bodyPr/>
          <a:lstStyle/>
          <a:p>
            <a:r>
              <a:rPr kumimoji="0" lang="en-US" dirty="0"/>
              <a:t>Dept. of E&amp;TC, SCOE, Pune</a:t>
            </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109827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2024-2025</a:t>
            </a:r>
          </a:p>
        </p:txBody>
      </p:sp>
      <p:sp>
        <p:nvSpPr>
          <p:cNvPr id="3" name="Footer Placeholder 2"/>
          <p:cNvSpPr>
            <a:spLocks noGrp="1"/>
          </p:cNvSpPr>
          <p:nvPr>
            <p:ph type="ftr" sz="quarter" idx="11"/>
          </p:nvPr>
        </p:nvSpPr>
        <p:spPr/>
        <p:txBody>
          <a:bodyPr/>
          <a:lstStyle/>
          <a:p>
            <a:r>
              <a:rPr kumimoji="0" lang="en-US" dirty="0"/>
              <a:t>Dept. of E&amp;TC, SCOE, Pune</a:t>
            </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1145125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2024-2025</a:t>
            </a:r>
          </a:p>
        </p:txBody>
      </p:sp>
      <p:sp>
        <p:nvSpPr>
          <p:cNvPr id="6" name="Footer Placeholder 5"/>
          <p:cNvSpPr>
            <a:spLocks noGrp="1"/>
          </p:cNvSpPr>
          <p:nvPr>
            <p:ph type="ftr" sz="quarter" idx="11"/>
          </p:nvPr>
        </p:nvSpPr>
        <p:spPr/>
        <p:txBody>
          <a:bodyPr/>
          <a:lstStyle/>
          <a:p>
            <a:r>
              <a:rPr kumimoji="0" lang="en-US" dirty="0"/>
              <a:t>Dept. of E&amp;TC, SCOE, Pune</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1481077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2024-2025</a:t>
            </a:r>
          </a:p>
        </p:txBody>
      </p:sp>
      <p:sp>
        <p:nvSpPr>
          <p:cNvPr id="6" name="Footer Placeholder 5"/>
          <p:cNvSpPr>
            <a:spLocks noGrp="1"/>
          </p:cNvSpPr>
          <p:nvPr>
            <p:ph type="ftr" sz="quarter" idx="11"/>
          </p:nvPr>
        </p:nvSpPr>
        <p:spPr/>
        <p:txBody>
          <a:bodyPr/>
          <a:lstStyle/>
          <a:p>
            <a:r>
              <a:rPr kumimoji="0" lang="en-US" dirty="0"/>
              <a:t>Dept. of E&amp;TC, SCOE, Pune</a:t>
            </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11228" y="4983088"/>
            <a:ext cx="584978" cy="365125"/>
          </a:xfrm>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352392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eaLnBrk="1" latinLnBrk="0" hangingPunct="1"/>
            <a:r>
              <a:rPr lang="en-US" dirty="0"/>
              <a:t>2024-2025</a:t>
            </a:r>
            <a:endParaRPr lang="en-US" sz="1400" dirty="0">
              <a:solidFill>
                <a:schemeClr val="tx2"/>
              </a:solidFill>
            </a:endParaRPr>
          </a:p>
        </p:txBody>
      </p:sp>
      <p:sp>
        <p:nvSpPr>
          <p:cNvPr id="5" name="Footer Placeholder 4"/>
          <p:cNvSpPr>
            <a:spLocks noGrp="1"/>
          </p:cNvSpPr>
          <p:nvPr>
            <p:ph type="ftr" sz="quarter" idx="11"/>
          </p:nvPr>
        </p:nvSpPr>
        <p:spPr/>
        <p:txBody>
          <a:bodyPr/>
          <a:lstStyle/>
          <a:p>
            <a:r>
              <a:rPr kumimoji="0" lang="en-US" sz="1400" dirty="0">
                <a:solidFill>
                  <a:schemeClr val="tx2"/>
                </a:solidFill>
              </a:rPr>
              <a:t>Dept. of E&amp;TC, SCOE, Pune</a:t>
            </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11228" y="3244140"/>
            <a:ext cx="584978" cy="365125"/>
          </a:xfrm>
        </p:spPr>
        <p:txBody>
          <a:body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1520770934"/>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eaLnBrk="1" latinLnBrk="0" hangingPunct="1"/>
            <a:r>
              <a:rPr lang="en-US" dirty="0"/>
              <a:t>2024-2025</a:t>
            </a:r>
            <a:endParaRPr lang="en-US" sz="1400" dirty="0">
              <a:solidFill>
                <a:schemeClr val="tx2"/>
              </a:solidFill>
            </a:endParaRPr>
          </a:p>
        </p:txBody>
      </p:sp>
      <p:sp>
        <p:nvSpPr>
          <p:cNvPr id="5" name="Footer Placeholder 4"/>
          <p:cNvSpPr>
            <a:spLocks noGrp="1"/>
          </p:cNvSpPr>
          <p:nvPr>
            <p:ph type="ftr" sz="quarter" idx="11"/>
          </p:nvPr>
        </p:nvSpPr>
        <p:spPr/>
        <p:txBody>
          <a:bodyPr/>
          <a:lstStyle/>
          <a:p>
            <a:r>
              <a:rPr kumimoji="0" lang="en-US" sz="1400" dirty="0">
                <a:solidFill>
                  <a:schemeClr val="tx2"/>
                </a:solidFill>
              </a:rPr>
              <a:t>Dept. of E&amp;TC, SCOE, Pune</a:t>
            </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11228" y="3244140"/>
            <a:ext cx="584978" cy="365125"/>
          </a:xfrm>
        </p:spPr>
        <p:txBody>
          <a:body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6385541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r>
              <a:rPr lang="en-US" dirty="0"/>
              <a:t>2024-2025</a:t>
            </a:r>
            <a:endParaRPr lang="en-US" sz="1400" dirty="0">
              <a:solidFill>
                <a:schemeClr val="tx2"/>
              </a:solidFill>
            </a:endParaRPr>
          </a:p>
        </p:txBody>
      </p:sp>
      <p:sp>
        <p:nvSpPr>
          <p:cNvPr id="6" name="Footer Placeholder 5"/>
          <p:cNvSpPr>
            <a:spLocks noGrp="1"/>
          </p:cNvSpPr>
          <p:nvPr>
            <p:ph type="ftr" sz="quarter" idx="11"/>
          </p:nvPr>
        </p:nvSpPr>
        <p:spPr/>
        <p:txBody>
          <a:bodyPr/>
          <a:lstStyle/>
          <a:p>
            <a:r>
              <a:rPr kumimoji="0" lang="en-US" sz="1400" dirty="0">
                <a:solidFill>
                  <a:schemeClr val="tx2"/>
                </a:solidFill>
              </a:rPr>
              <a:t>Dept. of E&amp;TC, SCOE, Pune</a:t>
            </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62554787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r>
              <a:rPr lang="en-US" dirty="0"/>
              <a:t>2024-2025</a:t>
            </a:r>
            <a:endParaRPr lang="en-US" sz="1400" dirty="0">
              <a:solidFill>
                <a:schemeClr val="tx2"/>
              </a:solidFill>
            </a:endParaRPr>
          </a:p>
        </p:txBody>
      </p:sp>
      <p:sp>
        <p:nvSpPr>
          <p:cNvPr id="6" name="Footer Placeholder 5"/>
          <p:cNvSpPr>
            <a:spLocks noGrp="1"/>
          </p:cNvSpPr>
          <p:nvPr>
            <p:ph type="ftr" sz="quarter" idx="11"/>
          </p:nvPr>
        </p:nvSpPr>
        <p:spPr/>
        <p:txBody>
          <a:bodyPr/>
          <a:lstStyle/>
          <a:p>
            <a:r>
              <a:rPr kumimoji="0" lang="en-US" sz="1400" dirty="0">
                <a:solidFill>
                  <a:schemeClr val="tx2"/>
                </a:solidFill>
              </a:rPr>
              <a:t>Dept. of E&amp;TC, SCOE, Pune</a:t>
            </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69696000"/>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r>
              <a:rPr lang="en-US" dirty="0"/>
              <a:t>2024-2025</a:t>
            </a:r>
            <a:endParaRPr lang="en-US" sz="1400" dirty="0">
              <a:solidFill>
                <a:schemeClr val="tx2"/>
              </a:solidFill>
            </a:endParaRPr>
          </a:p>
        </p:txBody>
      </p:sp>
      <p:sp>
        <p:nvSpPr>
          <p:cNvPr id="6" name="Footer Placeholder 5"/>
          <p:cNvSpPr>
            <a:spLocks noGrp="1"/>
          </p:cNvSpPr>
          <p:nvPr>
            <p:ph type="ftr" sz="quarter" idx="11"/>
          </p:nvPr>
        </p:nvSpPr>
        <p:spPr/>
        <p:txBody>
          <a:bodyPr/>
          <a:lstStyle/>
          <a:p>
            <a:r>
              <a:rPr kumimoji="0" lang="en-US" sz="1400" dirty="0">
                <a:solidFill>
                  <a:schemeClr val="tx2"/>
                </a:solidFill>
              </a:rPr>
              <a:t>Dept. of E&amp;TC, SCOE, Pune</a:t>
            </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331268284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2024-2025</a:t>
            </a:r>
          </a:p>
        </p:txBody>
      </p:sp>
      <p:sp>
        <p:nvSpPr>
          <p:cNvPr id="5" name="Footer Placeholder 4"/>
          <p:cNvSpPr>
            <a:spLocks noGrp="1"/>
          </p:cNvSpPr>
          <p:nvPr>
            <p:ph type="ftr" sz="quarter" idx="11"/>
          </p:nvPr>
        </p:nvSpPr>
        <p:spPr/>
        <p:txBody>
          <a:bodyPr/>
          <a:lstStyle/>
          <a:p>
            <a:r>
              <a:rPr kumimoji="0" lang="en-US" dirty="0"/>
              <a:t>Dept. of E&amp;TC, SCOE, Pune</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3072442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2024-2025</a:t>
            </a:r>
          </a:p>
        </p:txBody>
      </p:sp>
      <p:sp>
        <p:nvSpPr>
          <p:cNvPr id="5" name="Footer Placeholder 4"/>
          <p:cNvSpPr>
            <a:spLocks noGrp="1"/>
          </p:cNvSpPr>
          <p:nvPr>
            <p:ph type="ftr" sz="quarter" idx="11"/>
          </p:nvPr>
        </p:nvSpPr>
        <p:spPr/>
        <p:txBody>
          <a:bodyPr/>
          <a:lstStyle/>
          <a:p>
            <a:r>
              <a:rPr kumimoji="0" lang="en-US" dirty="0"/>
              <a:t>Dept. of E&amp;TC, SCOE, Pune</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F42FDE4-A7DD-41A7-A0A6-9B649FB43336}" type="slidenum">
              <a:rPr kumimoji="0" lang="en-US" smtClean="0"/>
              <a:t>‹#›</a:t>
            </a:fld>
            <a:endParaRPr kumimoji="0" lang="en-US" dirty="0"/>
          </a:p>
        </p:txBody>
      </p:sp>
    </p:spTree>
    <p:extLst>
      <p:ext uri="{BB962C8B-B14F-4D97-AF65-F5344CB8AC3E}">
        <p14:creationId xmlns:p14="http://schemas.microsoft.com/office/powerpoint/2010/main" val="583448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algn="r" eaLnBrk="1" latinLnBrk="0" hangingPunct="1"/>
            <a:r>
              <a:rPr lang="en-US" dirty="0"/>
              <a:t>2024-2025</a:t>
            </a:r>
            <a:endParaRPr lang="en-US" sz="1400" dirty="0">
              <a:solidFill>
                <a:schemeClr val="tx2"/>
              </a:solidFill>
            </a:endParaRP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kumimoji="0" lang="en-US" sz="1400" dirty="0">
                <a:solidFill>
                  <a:schemeClr val="tx2"/>
                </a:solidFill>
              </a:rPr>
              <a:t>Dept. of E&amp;TC, SCOE, Pune</a:t>
            </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lgn="ctr" eaLnBrk="1" latinLnBrk="0" hangingPunct="1"/>
            <a:fld id="{6F42FDE4-A7DD-41A7-A0A6-9B649FB43336}" type="slidenum">
              <a:rPr kumimoji="0" lang="en-US" smtClean="0"/>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243756289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hf hd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31845" y="2101505"/>
            <a:ext cx="8141307" cy="1293065"/>
          </a:xfrm>
        </p:spPr>
        <p:txBody>
          <a:bodyPr>
            <a:noAutofit/>
          </a:bodyPr>
          <a:lstStyle/>
          <a:p>
            <a:pPr algn="ctr">
              <a:lnSpc>
                <a:spcPct val="150000"/>
              </a:lnSpc>
              <a:spcBef>
                <a:spcPts val="0"/>
              </a:spcBef>
            </a:pPr>
            <a:r>
              <a:rPr lang="en-US" sz="2400" b="1" dirty="0"/>
              <a:t>Design and Performance Evaluation of Free Space Optics and Fiber Optic Communication Systems</a:t>
            </a:r>
          </a:p>
        </p:txBody>
      </p:sp>
      <p:sp>
        <p:nvSpPr>
          <p:cNvPr id="2" name="Subtitle 1"/>
          <p:cNvSpPr>
            <a:spLocks noGrp="1"/>
          </p:cNvSpPr>
          <p:nvPr>
            <p:ph type="subTitle" idx="1"/>
          </p:nvPr>
        </p:nvSpPr>
        <p:spPr>
          <a:xfrm>
            <a:off x="1100012" y="3741843"/>
            <a:ext cx="6849670" cy="1808313"/>
          </a:xfrm>
        </p:spPr>
        <p:txBody>
          <a:bodyPr>
            <a:normAutofit fontScale="92500" lnSpcReduction="20000"/>
          </a:bodyPr>
          <a:lstStyle/>
          <a:p>
            <a:pPr algn="l"/>
            <a:r>
              <a:rPr lang="en-US" sz="2800" b="1" dirty="0">
                <a:solidFill>
                  <a:srgbClr val="7030A0"/>
                </a:solidFill>
                <a:latin typeface="Footlight MT Light" panose="0204060206030A020304" pitchFamily="18" charset="0"/>
              </a:rPr>
              <a:t>By,</a:t>
            </a:r>
          </a:p>
          <a:p>
            <a:pPr algn="just"/>
            <a:r>
              <a:rPr lang="en-US" sz="2800" b="1" i="1" dirty="0">
                <a:solidFill>
                  <a:srgbClr val="7030A0"/>
                </a:solidFill>
                <a:latin typeface="Footlight MT Light" panose="0204060206030A020304" pitchFamily="18" charset="0"/>
              </a:rPr>
              <a:t>	    </a:t>
            </a:r>
            <a:r>
              <a:rPr lang="en-US" sz="2800" b="1" dirty="0">
                <a:solidFill>
                  <a:srgbClr val="7030A0"/>
                </a:solidFill>
                <a:latin typeface="Footlight MT Light" panose="0204060206030A020304" pitchFamily="18" charset="0"/>
              </a:rPr>
              <a:t>Aditi Panganti 	           B400230568	 </a:t>
            </a:r>
          </a:p>
          <a:p>
            <a:pPr algn="just"/>
            <a:r>
              <a:rPr lang="en-US" sz="2800" b="1" dirty="0">
                <a:solidFill>
                  <a:srgbClr val="7030A0"/>
                </a:solidFill>
                <a:latin typeface="Footlight MT Light" panose="0204060206030A020304" pitchFamily="18" charset="0"/>
              </a:rPr>
              <a:t>          Mugdha Ganu                B400230458      </a:t>
            </a:r>
          </a:p>
          <a:p>
            <a:pPr algn="just"/>
            <a:r>
              <a:rPr lang="en-US" sz="2800" b="1" dirty="0">
                <a:solidFill>
                  <a:srgbClr val="7030A0"/>
                </a:solidFill>
                <a:latin typeface="Footlight MT Light" panose="0204060206030A020304" pitchFamily="18" charset="0"/>
              </a:rPr>
              <a:t>          Sankalp Wasnik              B400230661</a:t>
            </a:r>
          </a:p>
        </p:txBody>
      </p:sp>
      <p:sp>
        <p:nvSpPr>
          <p:cNvPr id="4" name="Subtitle 1"/>
          <p:cNvSpPr txBox="1">
            <a:spLocks/>
          </p:cNvSpPr>
          <p:nvPr/>
        </p:nvSpPr>
        <p:spPr>
          <a:xfrm>
            <a:off x="1549024" y="186511"/>
            <a:ext cx="6675120" cy="1463040"/>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1"/>
                </a:solidFill>
                <a:latin typeface="Garamond" pitchFamily="18" charset="0"/>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r>
              <a:rPr lang="en-US" b="1" dirty="0">
                <a:solidFill>
                  <a:schemeClr val="accent2">
                    <a:lumMod val="75000"/>
                  </a:schemeClr>
                </a:solidFill>
              </a:rPr>
              <a:t>Sinhgad College of Engineering, Pune</a:t>
            </a:r>
          </a:p>
          <a:p>
            <a:r>
              <a:rPr lang="en-US" b="1" dirty="0">
                <a:solidFill>
                  <a:srgbClr val="FF0000"/>
                </a:solidFill>
              </a:rPr>
              <a:t>Department of E&amp;TC</a:t>
            </a:r>
          </a:p>
          <a:p>
            <a:r>
              <a:rPr lang="en-US" dirty="0">
                <a:solidFill>
                  <a:srgbClr val="A50021"/>
                </a:solidFill>
              </a:rPr>
              <a:t>B. E. E&amp;TC </a:t>
            </a:r>
          </a:p>
          <a:p>
            <a:endParaRPr lang="en-US" dirty="0">
              <a:solidFill>
                <a:srgbClr val="002060"/>
              </a:solidFill>
            </a:endParaRPr>
          </a:p>
        </p:txBody>
      </p:sp>
      <p:sp>
        <p:nvSpPr>
          <p:cNvPr id="5" name="Subtitle 1">
            <a:extLst>
              <a:ext uri="{FF2B5EF4-FFF2-40B4-BE49-F238E27FC236}">
                <a16:creationId xmlns:a16="http://schemas.microsoft.com/office/drawing/2014/main" id="{B2BE5ECC-F6EA-0942-B6E4-4E3712DB454D}"/>
              </a:ext>
            </a:extLst>
          </p:cNvPr>
          <p:cNvSpPr txBox="1">
            <a:spLocks/>
          </p:cNvSpPr>
          <p:nvPr/>
        </p:nvSpPr>
        <p:spPr>
          <a:xfrm>
            <a:off x="355636" y="6002110"/>
            <a:ext cx="5525760" cy="576000"/>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1"/>
                </a:solidFill>
                <a:latin typeface="Garamond" pitchFamily="18" charset="0"/>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l"/>
            <a:r>
              <a:rPr lang="en-US" sz="2800" b="1" dirty="0">
                <a:solidFill>
                  <a:srgbClr val="00B0F0"/>
                </a:solidFill>
              </a:rPr>
              <a:t>Guide: Prof. (Ms.) S. S. Kamble</a:t>
            </a:r>
          </a:p>
        </p:txBody>
      </p:sp>
      <p:sp>
        <p:nvSpPr>
          <p:cNvPr id="7" name="Subtitle 1">
            <a:extLst>
              <a:ext uri="{FF2B5EF4-FFF2-40B4-BE49-F238E27FC236}">
                <a16:creationId xmlns:a16="http://schemas.microsoft.com/office/drawing/2014/main" id="{D9614D35-6E5E-0575-8B02-92DA908B308D}"/>
              </a:ext>
            </a:extLst>
          </p:cNvPr>
          <p:cNvSpPr txBox="1">
            <a:spLocks/>
          </p:cNvSpPr>
          <p:nvPr/>
        </p:nvSpPr>
        <p:spPr>
          <a:xfrm>
            <a:off x="415785" y="1467983"/>
            <a:ext cx="2702731" cy="576000"/>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1"/>
                </a:solidFill>
                <a:latin typeface="Garamond" pitchFamily="18" charset="0"/>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l"/>
            <a:r>
              <a:rPr lang="en-US" sz="2800" b="1" dirty="0">
                <a:solidFill>
                  <a:srgbClr val="7030A0"/>
                </a:solidFill>
              </a:rPr>
              <a:t>Group No: 80</a:t>
            </a:r>
          </a:p>
        </p:txBody>
      </p:sp>
      <p:sp>
        <p:nvSpPr>
          <p:cNvPr id="8" name="Subtitle 1">
            <a:extLst>
              <a:ext uri="{FF2B5EF4-FFF2-40B4-BE49-F238E27FC236}">
                <a16:creationId xmlns:a16="http://schemas.microsoft.com/office/drawing/2014/main" id="{52552590-2F88-4A62-A7DE-3A9FC2E40BF8}"/>
              </a:ext>
            </a:extLst>
          </p:cNvPr>
          <p:cNvSpPr txBox="1">
            <a:spLocks/>
          </p:cNvSpPr>
          <p:nvPr/>
        </p:nvSpPr>
        <p:spPr>
          <a:xfrm>
            <a:off x="4968070" y="6095489"/>
            <a:ext cx="3888000" cy="576000"/>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1"/>
                </a:solidFill>
                <a:latin typeface="Garamond" pitchFamily="18" charset="0"/>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r"/>
            <a:r>
              <a:rPr lang="en-US" sz="2400" b="1" dirty="0">
                <a:solidFill>
                  <a:srgbClr val="FF6699"/>
                </a:solidFill>
              </a:rPr>
              <a:t>2025-26, Sem: II</a:t>
            </a:r>
          </a:p>
        </p:txBody>
      </p:sp>
      <p:sp>
        <p:nvSpPr>
          <p:cNvPr id="6" name="TextBox 5">
            <a:extLst>
              <a:ext uri="{FF2B5EF4-FFF2-40B4-BE49-F238E27FC236}">
                <a16:creationId xmlns:a16="http://schemas.microsoft.com/office/drawing/2014/main" id="{922B5A26-0D86-2E74-DC17-3DB329613C9A}"/>
              </a:ext>
            </a:extLst>
          </p:cNvPr>
          <p:cNvSpPr txBox="1"/>
          <p:nvPr/>
        </p:nvSpPr>
        <p:spPr>
          <a:xfrm>
            <a:off x="1714614" y="1766818"/>
            <a:ext cx="5775767" cy="461665"/>
          </a:xfrm>
          <a:prstGeom prst="rect">
            <a:avLst/>
          </a:prstGeom>
          <a:noFill/>
        </p:spPr>
        <p:txBody>
          <a:bodyPr wrap="square" rtlCol="0">
            <a:spAutoFit/>
          </a:bodyPr>
          <a:lstStyle/>
          <a:p>
            <a:pPr algn="ctr"/>
            <a:r>
              <a:rPr lang="en-IN" sz="2400" b="1" dirty="0"/>
              <a:t>Sponsored By DIAT</a:t>
            </a:r>
          </a:p>
        </p:txBody>
      </p:sp>
    </p:spTree>
    <p:extLst>
      <p:ext uri="{BB962C8B-B14F-4D97-AF65-F5344CB8AC3E}">
        <p14:creationId xmlns:p14="http://schemas.microsoft.com/office/powerpoint/2010/main" val="3953349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6127" y="387699"/>
            <a:ext cx="2085132" cy="800168"/>
          </a:xfrm>
        </p:spPr>
        <p:txBody>
          <a:bodyPr>
            <a:normAutofit/>
          </a:bodyPr>
          <a:lstStyle/>
          <a:p>
            <a:r>
              <a:rPr lang="en-US" sz="4000" b="1" dirty="0">
                <a:latin typeface="Comic Sans MS" panose="030F0702030302020204" pitchFamily="66" charset="0"/>
                <a:ea typeface="Cascadia Mono Light" panose="020B0609020000020004" pitchFamily="49" charset="0"/>
                <a:cs typeface="Cascadia Mono Light" panose="020B0609020000020004" pitchFamily="49" charset="0"/>
              </a:rPr>
              <a:t>Content</a:t>
            </a:r>
          </a:p>
        </p:txBody>
      </p:sp>
      <p:sp>
        <p:nvSpPr>
          <p:cNvPr id="6" name="Content Placeholder 5"/>
          <p:cNvSpPr>
            <a:spLocks noGrp="1"/>
          </p:cNvSpPr>
          <p:nvPr>
            <p:ph idx="1"/>
          </p:nvPr>
        </p:nvSpPr>
        <p:spPr>
          <a:xfrm>
            <a:off x="681134" y="1388962"/>
            <a:ext cx="7595119" cy="4826643"/>
          </a:xfrm>
        </p:spPr>
        <p:txBody>
          <a:bodyPr>
            <a:normAutofit/>
          </a:bodyPr>
          <a:lstStyle/>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Introduction                                  </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Literature Survey</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Aim and Objective</a:t>
            </a:r>
            <a:endParaRPr lang="en-IN" sz="2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Block Diagram </a:t>
            </a:r>
          </a:p>
          <a:p>
            <a:pPr>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Circuit Diagram </a:t>
            </a: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Components</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Result and Discussion</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Application</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Conclusion and Future Scope</a:t>
            </a:r>
          </a:p>
          <a:p>
            <a:pPr>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References</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endParaRPr lang="en-US" dirty="0"/>
          </a:p>
          <a:p>
            <a:endParaRPr lang="en-US" dirty="0"/>
          </a:p>
          <a:p>
            <a:endParaRPr lang="en-US" dirty="0"/>
          </a:p>
          <a:p>
            <a:endParaRPr lang="en-US" dirty="0"/>
          </a:p>
        </p:txBody>
      </p:sp>
      <p:sp>
        <p:nvSpPr>
          <p:cNvPr id="3" name="Date Placeholder 2"/>
          <p:cNvSpPr>
            <a:spLocks noGrp="1"/>
          </p:cNvSpPr>
          <p:nvPr>
            <p:ph type="dt" sz="half" idx="10"/>
          </p:nvPr>
        </p:nvSpPr>
        <p:spPr>
          <a:xfrm>
            <a:off x="7723936" y="6320174"/>
            <a:ext cx="766380" cy="370171"/>
          </a:xfrm>
        </p:spPr>
        <p:txBody>
          <a:bodyPr/>
          <a:lstStyle/>
          <a:p>
            <a:r>
              <a:rPr lang="en-US" dirty="0"/>
              <a:t>2025-2026</a:t>
            </a:r>
          </a:p>
        </p:txBody>
      </p:sp>
      <p:sp>
        <p:nvSpPr>
          <p:cNvPr id="4" name="Footer Placeholder 3"/>
          <p:cNvSpPr>
            <a:spLocks noGrp="1"/>
          </p:cNvSpPr>
          <p:nvPr>
            <p:ph type="ftr" sz="quarter" idx="11"/>
          </p:nvPr>
        </p:nvSpPr>
        <p:spPr>
          <a:xfrm>
            <a:off x="1036874" y="6320174"/>
            <a:ext cx="5848764" cy="370171"/>
          </a:xfrm>
        </p:spPr>
        <p:txBody>
          <a:bodyPr/>
          <a:lstStyle/>
          <a:p>
            <a:r>
              <a:rPr lang="en-US" dirty="0"/>
              <a:t>Dept. of E&amp;TC, SCOE, Pune</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a:t>
            </a:fld>
            <a:endParaRPr lang="en-US" dirty="0"/>
          </a:p>
        </p:txBody>
      </p:sp>
    </p:spTree>
    <p:extLst>
      <p:ext uri="{BB962C8B-B14F-4D97-AF65-F5344CB8AC3E}">
        <p14:creationId xmlns:p14="http://schemas.microsoft.com/office/powerpoint/2010/main" val="1597192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08DD-F98B-1176-F820-F39980C6DB5F}"/>
              </a:ext>
            </a:extLst>
          </p:cNvPr>
          <p:cNvSpPr>
            <a:spLocks noGrp="1"/>
          </p:cNvSpPr>
          <p:nvPr>
            <p:ph type="title"/>
          </p:nvPr>
        </p:nvSpPr>
        <p:spPr>
          <a:xfrm>
            <a:off x="1600200" y="-397041"/>
            <a:ext cx="7363325" cy="1549950"/>
          </a:xfrm>
        </p:spPr>
        <p:txBody>
          <a:bodyPr>
            <a:normAutofit fontScale="90000"/>
          </a:bodyPr>
          <a:lstStyle/>
          <a:p>
            <a:pPr algn="ctr"/>
            <a:br>
              <a:rPr lang="en-US" sz="3600" dirty="0"/>
            </a:br>
            <a:r>
              <a:rPr lang="en-US" sz="3600" b="1" dirty="0">
                <a:latin typeface="Comic Sans MS" panose="030F0702030302020204" pitchFamily="66" charset="0"/>
              </a:rPr>
              <a:t>Introduction </a:t>
            </a:r>
            <a:r>
              <a:rPr lang="en-US" sz="3600" b="1" dirty="0">
                <a:solidFill>
                  <a:schemeClr val="accent1">
                    <a:lumMod val="50000"/>
                  </a:schemeClr>
                </a:solidFill>
                <a:latin typeface="Comic Sans MS" panose="030F0702030302020204" pitchFamily="66" charset="0"/>
              </a:rPr>
              <a:t> </a:t>
            </a:r>
            <a:r>
              <a:rPr lang="en-US" sz="3600" b="1" dirty="0">
                <a:latin typeface="Comic Sans MS" panose="030F0702030302020204" pitchFamily="66" charset="0"/>
              </a:rPr>
              <a:t>To Radio Over Fiber Communication System  </a:t>
            </a:r>
            <a:br>
              <a:rPr lang="en-US" sz="3600" b="1" dirty="0">
                <a:solidFill>
                  <a:schemeClr val="accent1">
                    <a:lumMod val="50000"/>
                  </a:schemeClr>
                </a:solidFill>
                <a:latin typeface="Comic Sans MS" panose="030F0702030302020204" pitchFamily="66" charset="0"/>
              </a:rPr>
            </a:br>
            <a:endParaRPr lang="en-GB" b="1"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1052B0ED-C7EC-CA13-1F8C-196084F5CDF6}"/>
              </a:ext>
            </a:extLst>
          </p:cNvPr>
          <p:cNvSpPr>
            <a:spLocks noGrp="1"/>
          </p:cNvSpPr>
          <p:nvPr>
            <p:ph idx="1"/>
          </p:nvPr>
        </p:nvSpPr>
        <p:spPr>
          <a:xfrm>
            <a:off x="511228" y="1516514"/>
            <a:ext cx="8343573" cy="4228240"/>
          </a:xfrm>
        </p:spPr>
        <p:txBody>
          <a:bodyPr>
            <a:noAutofit/>
          </a:bodyPr>
          <a:lstStyle/>
          <a:p>
            <a:r>
              <a:rPr lang="en-US" dirty="0">
                <a:latin typeface="Times New Roman" panose="02020603050405020304" pitchFamily="18" charset="0"/>
                <a:cs typeface="Times New Roman" panose="02020603050405020304" pitchFamily="18" charset="0"/>
              </a:rPr>
              <a:t>In modern communication systems, the demand for </a:t>
            </a:r>
            <a:r>
              <a:rPr lang="en-US" b="1" dirty="0">
                <a:latin typeface="Times New Roman" panose="02020603050405020304" pitchFamily="18" charset="0"/>
                <a:cs typeface="Times New Roman" panose="02020603050405020304" pitchFamily="18" charset="0"/>
              </a:rPr>
              <a:t>high-speed, high-capacity, and reliable data transmission</a:t>
            </a:r>
            <a:r>
              <a:rPr lang="en-US" dirty="0">
                <a:latin typeface="Times New Roman" panose="02020603050405020304" pitchFamily="18" charset="0"/>
                <a:cs typeface="Times New Roman" panose="02020603050405020304" pitchFamily="18" charset="0"/>
              </a:rPr>
              <a:t> is continuously increasing.</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Free Space Optics (FSO)</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Optical Fiber communication</a:t>
            </a:r>
            <a:r>
              <a:rPr lang="en-US" dirty="0">
                <a:latin typeface="Times New Roman" panose="02020603050405020304" pitchFamily="18" charset="0"/>
                <a:cs typeface="Times New Roman" panose="02020603050405020304" pitchFamily="18" charset="0"/>
              </a:rPr>
              <a:t> are two important technologies used to meet these requirements.</a:t>
            </a:r>
          </a:p>
          <a:p>
            <a:r>
              <a:rPr lang="en-US" dirty="0">
                <a:latin typeface="Times New Roman" panose="02020603050405020304" pitchFamily="18" charset="0"/>
                <a:cs typeface="Times New Roman" panose="02020603050405020304" pitchFamily="18" charset="0"/>
              </a:rPr>
              <a:t>Optical Fiber communication transmits data through </a:t>
            </a:r>
            <a:r>
              <a:rPr lang="en-US" b="1" dirty="0">
                <a:latin typeface="Times New Roman" panose="02020603050405020304" pitchFamily="18" charset="0"/>
                <a:cs typeface="Times New Roman" panose="02020603050405020304" pitchFamily="18" charset="0"/>
              </a:rPr>
              <a:t>light signals inside fiber cables</a:t>
            </a:r>
            <a:r>
              <a:rPr lang="en-US" dirty="0">
                <a:latin typeface="Times New Roman" panose="02020603050405020304" pitchFamily="18" charset="0"/>
                <a:cs typeface="Times New Roman" panose="02020603050405020304" pitchFamily="18" charset="0"/>
              </a:rPr>
              <a:t>, offering </a:t>
            </a:r>
            <a:r>
              <a:rPr lang="en-US" b="1" dirty="0">
                <a:latin typeface="Times New Roman" panose="02020603050405020304" pitchFamily="18" charset="0"/>
                <a:cs typeface="Times New Roman" panose="02020603050405020304" pitchFamily="18" charset="0"/>
              </a:rPr>
              <a:t>high bandwidth, low loss, and stable performance</a:t>
            </a:r>
            <a:r>
              <a:rPr lang="en-US" dirty="0">
                <a:latin typeface="Times New Roman" panose="02020603050405020304" pitchFamily="18" charset="0"/>
                <a:cs typeface="Times New Roman" panose="02020603050405020304" pitchFamily="18" charset="0"/>
              </a:rPr>
              <a:t> over long distances.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contrast, FSO transmits data through the </a:t>
            </a:r>
            <a:r>
              <a:rPr lang="en-US" b="1" dirty="0">
                <a:latin typeface="Times New Roman" panose="02020603050405020304" pitchFamily="18" charset="0"/>
                <a:cs typeface="Times New Roman" panose="02020603050405020304" pitchFamily="18" charset="0"/>
              </a:rPr>
              <a:t>atmosphere without physical cables</a:t>
            </a:r>
            <a:r>
              <a:rPr lang="en-US" dirty="0">
                <a:latin typeface="Times New Roman" panose="02020603050405020304" pitchFamily="18" charset="0"/>
                <a:cs typeface="Times New Roman" panose="02020603050405020304" pitchFamily="18" charset="0"/>
              </a:rPr>
              <a:t>, providing </a:t>
            </a:r>
            <a:r>
              <a:rPr lang="en-US" b="1" dirty="0">
                <a:latin typeface="Times New Roman" panose="02020603050405020304" pitchFamily="18" charset="0"/>
                <a:cs typeface="Times New Roman" panose="02020603050405020304" pitchFamily="18" charset="0"/>
              </a:rPr>
              <a:t>easy deployment and cost-effective solutions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However, the performance of both systems is affected by factors such as </a:t>
            </a:r>
            <a:r>
              <a:rPr lang="en-US" b="1" dirty="0">
                <a:latin typeface="Times New Roman" panose="02020603050405020304" pitchFamily="18" charset="0"/>
                <a:cs typeface="Times New Roman" panose="02020603050405020304" pitchFamily="18" charset="0"/>
              </a:rPr>
              <a:t>attenuation, transmission distance, and environmental conditions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Therefore, analyzing and comparing these technologies is essential to determine their </a:t>
            </a:r>
            <a:r>
              <a:rPr lang="en-US" b="1" dirty="0">
                <a:latin typeface="Times New Roman" panose="02020603050405020304" pitchFamily="18" charset="0"/>
                <a:cs typeface="Times New Roman" panose="02020603050405020304" pitchFamily="18" charset="0"/>
              </a:rPr>
              <a:t>efficiency and suitable applications</a:t>
            </a:r>
            <a:r>
              <a:rPr lang="en-US" dirty="0">
                <a:latin typeface="Times New Roman" panose="02020603050405020304" pitchFamily="18" charset="0"/>
                <a:cs typeface="Times New Roman" panose="02020603050405020304" pitchFamily="18" charset="0"/>
              </a:rPr>
              <a:t>.</a:t>
            </a:r>
          </a:p>
        </p:txBody>
      </p:sp>
      <p:sp>
        <p:nvSpPr>
          <p:cNvPr id="3" name="Date Placeholder 2">
            <a:extLst>
              <a:ext uri="{FF2B5EF4-FFF2-40B4-BE49-F238E27FC236}">
                <a16:creationId xmlns:a16="http://schemas.microsoft.com/office/drawing/2014/main" id="{F02D38E5-C5C7-7F98-7185-34CE64DD5557}"/>
              </a:ext>
            </a:extLst>
          </p:cNvPr>
          <p:cNvSpPr>
            <a:spLocks noGrp="1"/>
          </p:cNvSpPr>
          <p:nvPr>
            <p:ph type="dt" sz="half" idx="10"/>
          </p:nvPr>
        </p:nvSpPr>
        <p:spPr>
          <a:xfrm>
            <a:off x="7781730" y="6287728"/>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A69E5FD9-8A3E-470F-1B64-92738C783EC9}"/>
              </a:ext>
            </a:extLst>
          </p:cNvPr>
          <p:cNvSpPr>
            <a:spLocks noGrp="1"/>
          </p:cNvSpPr>
          <p:nvPr>
            <p:ph type="ftr" sz="quarter" idx="11"/>
          </p:nvPr>
        </p:nvSpPr>
        <p:spPr>
          <a:xfrm>
            <a:off x="1270611" y="6287728"/>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98E84EC8-F7A6-AB37-BCFF-5F723B0464CC}"/>
              </a:ext>
            </a:extLst>
          </p:cNvPr>
          <p:cNvSpPr>
            <a:spLocks noGrp="1"/>
          </p:cNvSpPr>
          <p:nvPr>
            <p:ph type="sldNum" sz="quarter" idx="12"/>
          </p:nvPr>
        </p:nvSpPr>
        <p:spPr/>
        <p:txBody>
          <a:bodyPr/>
          <a:lstStyle/>
          <a:p>
            <a:fld id="{6F42FDE4-A7DD-41A7-A0A6-9B649FB43336}" type="slidenum">
              <a:rPr lang="en-US" smtClean="0"/>
              <a:pPr/>
              <a:t>3</a:t>
            </a:fld>
            <a:endParaRPr lang="en-US" dirty="0"/>
          </a:p>
        </p:txBody>
      </p:sp>
    </p:spTree>
    <p:extLst>
      <p:ext uri="{BB962C8B-B14F-4D97-AF65-F5344CB8AC3E}">
        <p14:creationId xmlns:p14="http://schemas.microsoft.com/office/powerpoint/2010/main" val="62796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2085" y="265133"/>
            <a:ext cx="3796556" cy="821094"/>
          </a:xfrm>
        </p:spPr>
        <p:txBody>
          <a:bodyPr>
            <a:normAutofit/>
          </a:bodyPr>
          <a:lstStyle/>
          <a:p>
            <a:r>
              <a:rPr lang="en-US" sz="3200" b="1" dirty="0">
                <a:latin typeface="Comic Sans MS" panose="030F0702030302020204" pitchFamily="66" charset="0"/>
              </a:rPr>
              <a:t>Literature Survey </a:t>
            </a:r>
          </a:p>
        </p:txBody>
      </p:sp>
      <p:sp>
        <p:nvSpPr>
          <p:cNvPr id="3" name="Date Placeholder 2"/>
          <p:cNvSpPr>
            <a:spLocks noGrp="1"/>
          </p:cNvSpPr>
          <p:nvPr>
            <p:ph type="dt" sz="half" idx="10"/>
          </p:nvPr>
        </p:nvSpPr>
        <p:spPr>
          <a:xfrm>
            <a:off x="7924634" y="6373371"/>
            <a:ext cx="785885" cy="248507"/>
          </a:xfrm>
        </p:spPr>
        <p:txBody>
          <a:bodyPr/>
          <a:lstStyle/>
          <a:p>
            <a:r>
              <a:rPr lang="en-US" dirty="0"/>
              <a:t>2024-2025</a:t>
            </a:r>
          </a:p>
        </p:txBody>
      </p:sp>
      <p:sp>
        <p:nvSpPr>
          <p:cNvPr id="4" name="Footer Placeholder 3"/>
          <p:cNvSpPr>
            <a:spLocks noGrp="1"/>
          </p:cNvSpPr>
          <p:nvPr>
            <p:ph type="ftr" sz="quarter" idx="11"/>
          </p:nvPr>
        </p:nvSpPr>
        <p:spPr>
          <a:xfrm>
            <a:off x="605220" y="6256753"/>
            <a:ext cx="7053683" cy="461287"/>
          </a:xfrm>
        </p:spPr>
        <p:txBody>
          <a:bodyPr/>
          <a:lstStyle/>
          <a:p>
            <a:r>
              <a:rPr lang="en-US" dirty="0"/>
              <a:t>Dept. of E&amp;TC, SCOE, Pune</a:t>
            </a:r>
          </a:p>
        </p:txBody>
      </p:sp>
      <p:sp>
        <p:nvSpPr>
          <p:cNvPr id="5" name="Slide Number Placeholder 4"/>
          <p:cNvSpPr>
            <a:spLocks noGrp="1"/>
          </p:cNvSpPr>
          <p:nvPr>
            <p:ph type="sldNum" sz="quarter" idx="12"/>
          </p:nvPr>
        </p:nvSpPr>
        <p:spPr/>
        <p:txBody>
          <a:bodyPr/>
          <a:lstStyle/>
          <a:p>
            <a:fld id="{6F42FDE4-A7DD-41A7-A0A6-9B649FB43336}" type="slidenum">
              <a:rPr lang="en-US" smtClean="0"/>
              <a:pPr/>
              <a:t>4</a:t>
            </a:fld>
            <a:endParaRPr lang="en-US" dirty="0"/>
          </a:p>
        </p:txBody>
      </p:sp>
      <p:sp>
        <p:nvSpPr>
          <p:cNvPr id="8" name="Content Placeholder 7">
            <a:extLst>
              <a:ext uri="{FF2B5EF4-FFF2-40B4-BE49-F238E27FC236}">
                <a16:creationId xmlns:a16="http://schemas.microsoft.com/office/drawing/2014/main" id="{59667E5D-F310-9AB6-5029-09E79496916B}"/>
              </a:ext>
            </a:extLst>
          </p:cNvPr>
          <p:cNvSpPr>
            <a:spLocks noGrp="1"/>
          </p:cNvSpPr>
          <p:nvPr>
            <p:ph idx="1"/>
          </p:nvPr>
        </p:nvSpPr>
        <p:spPr>
          <a:xfrm>
            <a:off x="360947" y="1255986"/>
            <a:ext cx="8698832" cy="5426242"/>
          </a:xfrm>
        </p:spPr>
        <p:txBody>
          <a:bodyPr>
            <a:normAutofit fontScale="85000" lnSpcReduction="10000"/>
          </a:bodyPr>
          <a:lstStyle/>
          <a:p>
            <a:pPr>
              <a:lnSpc>
                <a:spcPct val="140000"/>
              </a:lnSpc>
            </a:pPr>
            <a:r>
              <a:rPr lang="en-US" dirty="0">
                <a:latin typeface="Times New Roman" panose="02020603050405020304" pitchFamily="18" charset="0"/>
                <a:cs typeface="Times New Roman" panose="02020603050405020304" pitchFamily="18" charset="0"/>
              </a:rPr>
              <a:t>Several studies have investigated over optical fiber and Free Space Optics (FSO) technologies as potential solutions for high-speed and long-distance communication systems.</a:t>
            </a:r>
          </a:p>
          <a:p>
            <a:pPr>
              <a:lnSpc>
                <a:spcPct val="140000"/>
              </a:lnSpc>
            </a:pPr>
            <a:r>
              <a:rPr lang="en-US" b="1" dirty="0">
                <a:latin typeface="Times New Roman" panose="02020603050405020304" pitchFamily="18" charset="0"/>
                <a:cs typeface="Times New Roman" panose="02020603050405020304" pitchFamily="18" charset="0"/>
              </a:rPr>
              <a:t>Optical Fiber Systems:</a:t>
            </a:r>
            <a:endParaRPr lang="en-US" dirty="0">
              <a:latin typeface="Times New Roman" panose="02020603050405020304" pitchFamily="18" charset="0"/>
              <a:cs typeface="Times New Roman" panose="02020603050405020304" pitchFamily="18" charset="0"/>
            </a:endParaRPr>
          </a:p>
          <a:p>
            <a:pPr algn="just">
              <a:lnSpc>
                <a:spcPct val="140000"/>
              </a:lnSpc>
            </a:pPr>
            <a:r>
              <a:rPr lang="en-US" dirty="0">
                <a:latin typeface="Times New Roman" panose="02020603050405020304" pitchFamily="18" charset="0"/>
                <a:cs typeface="Times New Roman" panose="02020603050405020304" pitchFamily="18" charset="0"/>
              </a:rPr>
              <a:t>Optical fiber communication is widely used due to its high bandwidth, low attenuation, and long-distance transmission capability. Technologies like Wavelength Division Multiplexing (WDM) and advanced modulation techniques have significantly improved data rates and efficiency. Key challenges include dispersion, attenuation, and nonlinear effects, which impact system performance. Recent research focuses on coherent detection, digital signal processing (DSP), and machine learning to enhance performance and reliability.</a:t>
            </a:r>
          </a:p>
          <a:p>
            <a:pPr algn="just">
              <a:lnSpc>
                <a:spcPct val="140000"/>
              </a:lnSpc>
            </a:pPr>
            <a:r>
              <a:rPr lang="en-US" b="1" dirty="0">
                <a:latin typeface="Times New Roman" panose="02020603050405020304" pitchFamily="18" charset="0"/>
                <a:cs typeface="Times New Roman" panose="02020603050405020304" pitchFamily="18" charset="0"/>
              </a:rPr>
              <a:t>FSO Systems:</a:t>
            </a:r>
            <a:endParaRPr lang="en-US" dirty="0">
              <a:latin typeface="Times New Roman" panose="02020603050405020304" pitchFamily="18" charset="0"/>
              <a:cs typeface="Times New Roman" panose="02020603050405020304" pitchFamily="18" charset="0"/>
            </a:endParaRPr>
          </a:p>
          <a:p>
            <a:pPr algn="just">
              <a:lnSpc>
                <a:spcPct val="140000"/>
              </a:lnSpc>
            </a:pPr>
            <a:r>
              <a:rPr lang="en-US" dirty="0">
                <a:latin typeface="Times New Roman" panose="02020603050405020304" pitchFamily="18" charset="0"/>
                <a:cs typeface="Times New Roman" panose="02020603050405020304" pitchFamily="18" charset="0"/>
              </a:rPr>
              <a:t>Studies focused on FSO as an emerging optical wireless technology capable of achieving fiber-like data rates using laser-based free-space transmission. FSO systems are cost-effective, easily deployable, and immune to electromagnetic interference. However, environmental factors such as fog, rain, and atmospheric turbulence significantly affect link performance. To address this, researchers have proposed methods including adaptive modulation techniques, beam divergence control, and error correction coding to improve link stability and signal quality.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227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7D1B-D7E4-4613-575C-D5650D83F38F}"/>
              </a:ext>
            </a:extLst>
          </p:cNvPr>
          <p:cNvSpPr>
            <a:spLocks noGrp="1"/>
          </p:cNvSpPr>
          <p:nvPr>
            <p:ph type="title"/>
          </p:nvPr>
        </p:nvSpPr>
        <p:spPr>
          <a:xfrm>
            <a:off x="2789205" y="339376"/>
            <a:ext cx="3770127" cy="699795"/>
          </a:xfrm>
        </p:spPr>
        <p:txBody>
          <a:bodyPr>
            <a:normAutofit/>
          </a:bodyPr>
          <a:lstStyle/>
          <a:p>
            <a:r>
              <a:rPr lang="en-US" sz="3200" b="1" dirty="0">
                <a:latin typeface="Comic Sans MS" panose="030F0702030302020204" pitchFamily="66" charset="0"/>
              </a:rPr>
              <a:t>Literature Survey </a:t>
            </a:r>
            <a:endParaRPr lang="en-IN" sz="3200" b="1" dirty="0">
              <a:latin typeface="Comic Sans MS" panose="030F0702030302020204" pitchFamily="66" charset="0"/>
            </a:endParaRPr>
          </a:p>
        </p:txBody>
      </p:sp>
      <p:sp>
        <p:nvSpPr>
          <p:cNvPr id="3" name="Date Placeholder 2">
            <a:extLst>
              <a:ext uri="{FF2B5EF4-FFF2-40B4-BE49-F238E27FC236}">
                <a16:creationId xmlns:a16="http://schemas.microsoft.com/office/drawing/2014/main" id="{B1C8291B-7431-29AE-8CAD-011E86AA5168}"/>
              </a:ext>
            </a:extLst>
          </p:cNvPr>
          <p:cNvSpPr>
            <a:spLocks noGrp="1"/>
          </p:cNvSpPr>
          <p:nvPr>
            <p:ph type="dt" sz="half" idx="10"/>
          </p:nvPr>
        </p:nvSpPr>
        <p:spPr>
          <a:xfrm>
            <a:off x="7761422" y="6322697"/>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30568B3C-A278-0BDF-54B7-344497BEFF61}"/>
              </a:ext>
            </a:extLst>
          </p:cNvPr>
          <p:cNvSpPr>
            <a:spLocks noGrp="1"/>
          </p:cNvSpPr>
          <p:nvPr>
            <p:ph type="ftr" sz="quarter" idx="11"/>
          </p:nvPr>
        </p:nvSpPr>
        <p:spPr>
          <a:xfrm>
            <a:off x="1382578" y="6322697"/>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5F31C8E3-9FEA-305B-C662-D9C25E0721C4}"/>
              </a:ext>
            </a:extLst>
          </p:cNvPr>
          <p:cNvSpPr>
            <a:spLocks noGrp="1"/>
          </p:cNvSpPr>
          <p:nvPr>
            <p:ph type="sldNum" sz="quarter" idx="12"/>
          </p:nvPr>
        </p:nvSpPr>
        <p:spPr/>
        <p:txBody>
          <a:bodyPr/>
          <a:lstStyle/>
          <a:p>
            <a:fld id="{6F42FDE4-A7DD-41A7-A0A6-9B649FB43336}" type="slidenum">
              <a:rPr lang="en-US" smtClean="0"/>
              <a:pPr/>
              <a:t>5</a:t>
            </a:fld>
            <a:endParaRPr lang="en-US" dirty="0"/>
          </a:p>
        </p:txBody>
      </p:sp>
      <p:graphicFrame>
        <p:nvGraphicFramePr>
          <p:cNvPr id="7" name="Table 6">
            <a:extLst>
              <a:ext uri="{FF2B5EF4-FFF2-40B4-BE49-F238E27FC236}">
                <a16:creationId xmlns:a16="http://schemas.microsoft.com/office/drawing/2014/main" id="{FC112999-EC8C-E9C6-22FA-A9250B03116D}"/>
              </a:ext>
            </a:extLst>
          </p:cNvPr>
          <p:cNvGraphicFramePr>
            <a:graphicFrameLocks noGrp="1"/>
          </p:cNvGraphicFramePr>
          <p:nvPr>
            <p:extLst>
              <p:ext uri="{D42A27DB-BD31-4B8C-83A1-F6EECF244321}">
                <p14:modId xmlns:p14="http://schemas.microsoft.com/office/powerpoint/2010/main" val="3964185569"/>
              </p:ext>
            </p:extLst>
          </p:nvPr>
        </p:nvGraphicFramePr>
        <p:xfrm>
          <a:off x="616198" y="1341121"/>
          <a:ext cx="8151882" cy="5095312"/>
        </p:xfrm>
        <a:graphic>
          <a:graphicData uri="http://schemas.openxmlformats.org/drawingml/2006/table">
            <a:tbl>
              <a:tblPr firstRow="1" firstCol="1" bandRow="1">
                <a:tableStyleId>{5C22544A-7EE6-4342-B048-85BDC9FD1C3A}</a:tableStyleId>
              </a:tblPr>
              <a:tblGrid>
                <a:gridCol w="2037971">
                  <a:extLst>
                    <a:ext uri="{9D8B030D-6E8A-4147-A177-3AD203B41FA5}">
                      <a16:colId xmlns:a16="http://schemas.microsoft.com/office/drawing/2014/main" val="3985314168"/>
                    </a:ext>
                  </a:extLst>
                </a:gridCol>
                <a:gridCol w="1584612">
                  <a:extLst>
                    <a:ext uri="{9D8B030D-6E8A-4147-A177-3AD203B41FA5}">
                      <a16:colId xmlns:a16="http://schemas.microsoft.com/office/drawing/2014/main" val="376718081"/>
                    </a:ext>
                  </a:extLst>
                </a:gridCol>
                <a:gridCol w="1657252">
                  <a:extLst>
                    <a:ext uri="{9D8B030D-6E8A-4147-A177-3AD203B41FA5}">
                      <a16:colId xmlns:a16="http://schemas.microsoft.com/office/drawing/2014/main" val="1231591997"/>
                    </a:ext>
                  </a:extLst>
                </a:gridCol>
                <a:gridCol w="2872047">
                  <a:extLst>
                    <a:ext uri="{9D8B030D-6E8A-4147-A177-3AD203B41FA5}">
                      <a16:colId xmlns:a16="http://schemas.microsoft.com/office/drawing/2014/main" val="863287971"/>
                    </a:ext>
                  </a:extLst>
                </a:gridCol>
              </a:tblGrid>
              <a:tr h="187781">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Title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Authors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Publisher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Summary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103775783"/>
                  </a:ext>
                </a:extLst>
              </a:tr>
              <a:tr h="853712">
                <a:tc>
                  <a:txBody>
                    <a:bodyPr/>
                    <a:lstStyle/>
                    <a:p>
                      <a:pPr algn="just">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Performance Analysis of Free Space Optical Communication System under Different Weather Conditions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Henniger H., Wilfert O.</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IEEE Journal of Selected Topics in Quantum Electronics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Analyzes FSO system performance under atmospheric conditions like fog and rain; shows attenuation increases BER and reduces Q-factor.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3929625922"/>
                  </a:ext>
                </a:extLst>
              </a:tr>
              <a:tr h="853712">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Optical Fiber Communication Systems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John M. Senior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Pearson Education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Explains fundamentals of optical fiber communication, highlighting low attenuation and stable long-distance transmission.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3031942046"/>
                  </a:ext>
                </a:extLst>
              </a:tr>
              <a:tr h="853712">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Comparison of FSO and Optical Fiber Communication Systems Using Simulation</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Sharma P., Kaur G.</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IJARECE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Compares FSO and fiber systems using simulation; concludes fiber is better for long distance, FSO for short-range applications.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2798536997"/>
                  </a:ext>
                </a:extLst>
              </a:tr>
              <a:tr h="961084">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Design and Simulation of Optical Communication System Using OptiSystem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Singh S., Malhotra 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IJERT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Demonstrates system design using OptiSystem with components like PRBS, NRZ, and MZM; evaluates performance using BER and eye diagrams.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3903045937"/>
                  </a:ext>
                </a:extLst>
              </a:tr>
              <a:tr h="746341">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Performance Evaluation of 10 Gbps Optical Communication System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Patel R., Verma A.</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IEEE Conference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Studies high-speed (10 Gbps) optical systems at 193.1 THz; evaluates Q-factor and BER for performance analysis.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1515047457"/>
                  </a:ext>
                </a:extLst>
              </a:tr>
              <a:tr h="638970">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Analysis of Attenuation Effects in Free Space Optical Communication Systems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Andrews L.C., Phillips R.L.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a:effectLst/>
                          <a:latin typeface="Times New Roman" panose="02020603050405020304" pitchFamily="18" charset="0"/>
                          <a:cs typeface="Times New Roman" panose="02020603050405020304" pitchFamily="18" charset="0"/>
                        </a:rPr>
                        <a:t>SPIE Press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tc>
                  <a:txBody>
                    <a:bodyPr/>
                    <a:lstStyle/>
                    <a:p>
                      <a:pPr algn="just">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Discusses impact of atmospheric attenuation on FSO signal propagation and performance degradation.</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980" marR="28980" marT="0" marB="0"/>
                </a:tc>
                <a:extLst>
                  <a:ext uri="{0D108BD9-81ED-4DB2-BD59-A6C34878D82A}">
                    <a16:rowId xmlns:a16="http://schemas.microsoft.com/office/drawing/2014/main" val="1284750790"/>
                  </a:ext>
                </a:extLst>
              </a:tr>
            </a:tbl>
          </a:graphicData>
        </a:graphic>
      </p:graphicFrame>
    </p:spTree>
    <p:extLst>
      <p:ext uri="{BB962C8B-B14F-4D97-AF65-F5344CB8AC3E}">
        <p14:creationId xmlns:p14="http://schemas.microsoft.com/office/powerpoint/2010/main" val="137720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608" y="445830"/>
            <a:ext cx="3990628" cy="894167"/>
          </a:xfrm>
        </p:spPr>
        <p:txBody>
          <a:bodyPr>
            <a:normAutofit/>
          </a:bodyPr>
          <a:lstStyle/>
          <a:p>
            <a:r>
              <a:rPr lang="en-US" sz="3000" dirty="0"/>
              <a:t> </a:t>
            </a:r>
            <a:r>
              <a:rPr lang="en-US" sz="3200" b="1" dirty="0">
                <a:latin typeface="Comic Sans MS" panose="030F0702030302020204" pitchFamily="66" charset="0"/>
              </a:rPr>
              <a:t>Aim and Objective</a:t>
            </a:r>
          </a:p>
        </p:txBody>
      </p:sp>
      <p:sp>
        <p:nvSpPr>
          <p:cNvPr id="6" name="Content Placeholder 5"/>
          <p:cNvSpPr>
            <a:spLocks noGrp="1"/>
          </p:cNvSpPr>
          <p:nvPr>
            <p:ph idx="1"/>
          </p:nvPr>
        </p:nvSpPr>
        <p:spPr>
          <a:xfrm>
            <a:off x="416823" y="1757083"/>
            <a:ext cx="8354198" cy="4313133"/>
          </a:xfrm>
        </p:spPr>
        <p:txBody>
          <a:bodyPr>
            <a:normAutofit/>
          </a:bodyPr>
          <a:lstStyle/>
          <a:p>
            <a:pPr algn="just">
              <a:buNone/>
            </a:pPr>
            <a:r>
              <a:rPr lang="en-US" b="1" dirty="0">
                <a:latin typeface="Times New Roman" panose="02020603050405020304" pitchFamily="18" charset="0"/>
                <a:ea typeface="Calibri" panose="020F0502020204030204" pitchFamily="34" charset="0"/>
                <a:cs typeface="Times New Roman" panose="02020603050405020304" pitchFamily="18" charset="0"/>
              </a:rPr>
              <a:t> Aim </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To analyze and compare the performance of Free Space Optics (FSO) and Optical Fiber communication systems using </a:t>
            </a:r>
            <a:r>
              <a:rPr lang="en-US" sz="1800" dirty="0" err="1">
                <a:effectLst/>
                <a:latin typeface="Times New Roman" panose="02020603050405020304" pitchFamily="18" charset="0"/>
                <a:ea typeface="Times New Roman" panose="02020603050405020304" pitchFamily="18" charset="0"/>
              </a:rPr>
              <a:t>OptiSystem</a:t>
            </a:r>
            <a:r>
              <a:rPr lang="en-US" sz="1800" dirty="0">
                <a:effectLst/>
                <a:latin typeface="Times New Roman" panose="02020603050405020304" pitchFamily="18" charset="0"/>
                <a:ea typeface="Times New Roman" panose="02020603050405020304" pitchFamily="18" charset="0"/>
              </a:rPr>
              <a:t> software by evaluating parameters such as Q-factor, Bit Error Rate (BER), and eye diagram under varying conditions of transmission distance and attenuation.</a:t>
            </a:r>
            <a:endParaRPr lang="en-IN" sz="1600" dirty="0">
              <a:effectLst/>
              <a:latin typeface="Calibri" panose="020F0502020204030204" pitchFamily="34" charset="0"/>
              <a:ea typeface="Calibri" panose="020F0502020204030204" pitchFamily="34" charset="0"/>
            </a:endParaRPr>
          </a:p>
          <a:p>
            <a:pPr algn="just">
              <a:buFont typeface="Wingdings" panose="05000000000000000000" pitchFamily="2" charset="2"/>
              <a:buChar char="Ø"/>
            </a:pPr>
            <a:r>
              <a:rPr lang="en-US" b="1" dirty="0">
                <a:latin typeface="Times New Roman" panose="02020603050405020304" pitchFamily="18" charset="0"/>
                <a:ea typeface="Calibri" panose="020F0502020204030204" pitchFamily="34" charset="0"/>
                <a:cs typeface="Times New Roman" panose="02020603050405020304" pitchFamily="18" charset="0"/>
              </a:rPr>
              <a:t>Objective </a:t>
            </a:r>
            <a:r>
              <a:rPr lang="en-US" dirty="0">
                <a:latin typeface="Times New Roman" panose="02020603050405020304" pitchFamily="18" charset="0"/>
                <a:ea typeface="Calibri" panose="020F0502020204030204" pitchFamily="34"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design and simulate FSO and Optical Fiber systems using </a:t>
            </a:r>
            <a:r>
              <a:rPr lang="en-US" dirty="0" err="1">
                <a:latin typeface="Times New Roman" panose="02020603050405020304" pitchFamily="18" charset="0"/>
                <a:cs typeface="Times New Roman" panose="02020603050405020304" pitchFamily="18" charset="0"/>
              </a:rPr>
              <a:t>OptiSystem</a:t>
            </a:r>
            <a:r>
              <a:rPr lang="en-US"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performance at 10 Gbps and 193.1 THz.</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study the effect of transmission distance and attenuation (3–15 dB/km).To evaluate parameters like Q-factor, BER, eye height, and threshold.</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compare both systems using eye diagram analysis.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identify the more reliable system for long-distance communication.</a:t>
            </a:r>
            <a:endParaRPr lang="en-GB"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7744408" y="6304220"/>
            <a:ext cx="766380" cy="370171"/>
          </a:xfrm>
        </p:spPr>
        <p:txBody>
          <a:bodyPr/>
          <a:lstStyle/>
          <a:p>
            <a:r>
              <a:rPr lang="en-US" dirty="0"/>
              <a:t>2025-2026</a:t>
            </a:r>
          </a:p>
        </p:txBody>
      </p:sp>
      <p:sp>
        <p:nvSpPr>
          <p:cNvPr id="4" name="Footer Placeholder 3"/>
          <p:cNvSpPr>
            <a:spLocks noGrp="1"/>
          </p:cNvSpPr>
          <p:nvPr>
            <p:ph type="ftr" sz="quarter" idx="11"/>
          </p:nvPr>
        </p:nvSpPr>
        <p:spPr>
          <a:xfrm>
            <a:off x="1214627" y="6342013"/>
            <a:ext cx="5716488" cy="365125"/>
          </a:xfrm>
        </p:spPr>
        <p:txBody>
          <a:bodyPr/>
          <a:lstStyle/>
          <a:p>
            <a:r>
              <a:rPr lang="en-US" dirty="0"/>
              <a:t>Dept. of E&amp;TC, SCOE, Pune</a:t>
            </a:r>
          </a:p>
        </p:txBody>
      </p:sp>
      <p:sp>
        <p:nvSpPr>
          <p:cNvPr id="5" name="Slide Number Placeholder 4"/>
          <p:cNvSpPr>
            <a:spLocks noGrp="1"/>
          </p:cNvSpPr>
          <p:nvPr>
            <p:ph type="sldNum" sz="quarter" idx="12"/>
          </p:nvPr>
        </p:nvSpPr>
        <p:spPr/>
        <p:txBody>
          <a:bodyPr/>
          <a:lstStyle/>
          <a:p>
            <a:fld id="{6F42FDE4-A7DD-41A7-A0A6-9B649FB43336}" type="slidenum">
              <a:rPr lang="en-US" smtClean="0"/>
              <a:pPr/>
              <a:t>6</a:t>
            </a:fld>
            <a:endParaRPr lang="en-US" dirty="0"/>
          </a:p>
        </p:txBody>
      </p:sp>
    </p:spTree>
    <p:extLst>
      <p:ext uri="{BB962C8B-B14F-4D97-AF65-F5344CB8AC3E}">
        <p14:creationId xmlns:p14="http://schemas.microsoft.com/office/powerpoint/2010/main" val="1200333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C44E-E805-48F3-8C67-CC738C585AE9}"/>
              </a:ext>
            </a:extLst>
          </p:cNvPr>
          <p:cNvSpPr>
            <a:spLocks noGrp="1"/>
          </p:cNvSpPr>
          <p:nvPr>
            <p:ph type="title"/>
          </p:nvPr>
        </p:nvSpPr>
        <p:spPr>
          <a:xfrm>
            <a:off x="3225541" y="304800"/>
            <a:ext cx="3302517" cy="800168"/>
          </a:xfrm>
        </p:spPr>
        <p:txBody>
          <a:bodyPr/>
          <a:lstStyle/>
          <a:p>
            <a:r>
              <a:rPr lang="en-IN" b="1" dirty="0">
                <a:latin typeface="Comic Sans MS" panose="030F0702030302020204" pitchFamily="66" charset="0"/>
              </a:rPr>
              <a:t>Block Diagram </a:t>
            </a:r>
          </a:p>
        </p:txBody>
      </p:sp>
      <p:sp>
        <p:nvSpPr>
          <p:cNvPr id="3" name="Date Placeholder 2">
            <a:extLst>
              <a:ext uri="{FF2B5EF4-FFF2-40B4-BE49-F238E27FC236}">
                <a16:creationId xmlns:a16="http://schemas.microsoft.com/office/drawing/2014/main" id="{5E2B94C6-BDDD-AEF0-323A-EF07DE17FCB6}"/>
              </a:ext>
            </a:extLst>
          </p:cNvPr>
          <p:cNvSpPr>
            <a:spLocks noGrp="1"/>
          </p:cNvSpPr>
          <p:nvPr>
            <p:ph type="dt" sz="half" idx="10"/>
          </p:nvPr>
        </p:nvSpPr>
        <p:spPr>
          <a:xfrm>
            <a:off x="7768020" y="6352800"/>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F30F1B41-B411-4440-1676-FD0279080C48}"/>
              </a:ext>
            </a:extLst>
          </p:cNvPr>
          <p:cNvSpPr>
            <a:spLocks noGrp="1"/>
          </p:cNvSpPr>
          <p:nvPr>
            <p:ph type="ftr" sz="quarter" idx="11"/>
          </p:nvPr>
        </p:nvSpPr>
        <p:spPr>
          <a:xfrm>
            <a:off x="709127" y="6352801"/>
            <a:ext cx="6277972" cy="370171"/>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7795FE76-D295-7096-330A-317664CB9524}"/>
              </a:ext>
            </a:extLst>
          </p:cNvPr>
          <p:cNvSpPr>
            <a:spLocks noGrp="1"/>
          </p:cNvSpPr>
          <p:nvPr>
            <p:ph type="sldNum" sz="quarter" idx="12"/>
          </p:nvPr>
        </p:nvSpPr>
        <p:spPr/>
        <p:txBody>
          <a:bodyPr/>
          <a:lstStyle/>
          <a:p>
            <a:fld id="{6F42FDE4-A7DD-41A7-A0A6-9B649FB43336}" type="slidenum">
              <a:rPr lang="en-US" smtClean="0"/>
              <a:pPr/>
              <a:t>7</a:t>
            </a:fld>
            <a:endParaRPr lang="en-US" dirty="0"/>
          </a:p>
        </p:txBody>
      </p:sp>
      <p:sp>
        <p:nvSpPr>
          <p:cNvPr id="9" name="Rectangle 3">
            <a:extLst>
              <a:ext uri="{FF2B5EF4-FFF2-40B4-BE49-F238E27FC236}">
                <a16:creationId xmlns:a16="http://schemas.microsoft.com/office/drawing/2014/main" id="{87B03031-4D17-2AE2-3E2D-8ECFA517A61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6">
            <a:extLst>
              <a:ext uri="{FF2B5EF4-FFF2-40B4-BE49-F238E27FC236}">
                <a16:creationId xmlns:a16="http://schemas.microsoft.com/office/drawing/2014/main" id="{AACCAD1A-3DBB-55AB-708B-0FDBB2852A46}"/>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7">
            <a:extLst>
              <a:ext uri="{FF2B5EF4-FFF2-40B4-BE49-F238E27FC236}">
                <a16:creationId xmlns:a16="http://schemas.microsoft.com/office/drawing/2014/main" id="{458886D0-6B26-52F4-0954-04DFEE39578A}"/>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8">
            <a:extLst>
              <a:ext uri="{FF2B5EF4-FFF2-40B4-BE49-F238E27FC236}">
                <a16:creationId xmlns:a16="http://schemas.microsoft.com/office/drawing/2014/main" id="{C1EB3896-5443-C615-2BB5-FCF57881DB5B}"/>
              </a:ext>
            </a:extLst>
          </p:cNvPr>
          <p:cNvSpPr>
            <a:spLocks noChangeArrowheads="1"/>
          </p:cNvSpPr>
          <p:nvPr/>
        </p:nvSpPr>
        <p:spPr bwMode="auto">
          <a:xfrm>
            <a:off x="45720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A802696D-F36E-B85D-B6B1-E2F8D48E2C64}"/>
              </a:ext>
            </a:extLst>
          </p:cNvPr>
          <p:cNvSpPr txBox="1"/>
          <p:nvPr/>
        </p:nvSpPr>
        <p:spPr>
          <a:xfrm>
            <a:off x="2448560" y="5569071"/>
            <a:ext cx="5181600" cy="370171"/>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Block diagram of Fiber Optic Communication System   </a:t>
            </a:r>
          </a:p>
        </p:txBody>
      </p:sp>
      <p:pic>
        <p:nvPicPr>
          <p:cNvPr id="11" name="Picture 10">
            <a:extLst>
              <a:ext uri="{FF2B5EF4-FFF2-40B4-BE49-F238E27FC236}">
                <a16:creationId xmlns:a16="http://schemas.microsoft.com/office/drawing/2014/main" id="{E5DD558F-F2AE-EC17-CAD2-8A8E90DEC1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50" y="2459817"/>
            <a:ext cx="8859499" cy="1987850"/>
          </a:xfrm>
          <a:prstGeom prst="rect">
            <a:avLst/>
          </a:prstGeom>
          <a:ln>
            <a:solidFill>
              <a:schemeClr val="tx1"/>
            </a:solidFill>
          </a:ln>
        </p:spPr>
      </p:pic>
    </p:spTree>
    <p:extLst>
      <p:ext uri="{BB962C8B-B14F-4D97-AF65-F5344CB8AC3E}">
        <p14:creationId xmlns:p14="http://schemas.microsoft.com/office/powerpoint/2010/main" val="943203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F625-5A6A-DDDC-0978-DCBBB66D0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42330-5310-452E-3732-EE03C8F4B1B6}"/>
              </a:ext>
            </a:extLst>
          </p:cNvPr>
          <p:cNvSpPr>
            <a:spLocks noGrp="1"/>
          </p:cNvSpPr>
          <p:nvPr>
            <p:ph type="title"/>
          </p:nvPr>
        </p:nvSpPr>
        <p:spPr>
          <a:xfrm>
            <a:off x="3225541" y="304800"/>
            <a:ext cx="3302517" cy="800168"/>
          </a:xfrm>
        </p:spPr>
        <p:txBody>
          <a:bodyPr/>
          <a:lstStyle/>
          <a:p>
            <a:r>
              <a:rPr lang="en-IN" b="1" dirty="0">
                <a:latin typeface="Comic Sans MS" panose="030F0702030302020204" pitchFamily="66" charset="0"/>
              </a:rPr>
              <a:t>Block Diagram </a:t>
            </a:r>
          </a:p>
        </p:txBody>
      </p:sp>
      <p:sp>
        <p:nvSpPr>
          <p:cNvPr id="3" name="Date Placeholder 2">
            <a:extLst>
              <a:ext uri="{FF2B5EF4-FFF2-40B4-BE49-F238E27FC236}">
                <a16:creationId xmlns:a16="http://schemas.microsoft.com/office/drawing/2014/main" id="{7D405376-5D55-52F4-1113-EEC31AD726D2}"/>
              </a:ext>
            </a:extLst>
          </p:cNvPr>
          <p:cNvSpPr>
            <a:spLocks noGrp="1"/>
          </p:cNvSpPr>
          <p:nvPr>
            <p:ph type="dt" sz="half" idx="10"/>
          </p:nvPr>
        </p:nvSpPr>
        <p:spPr>
          <a:xfrm>
            <a:off x="7768020" y="6352800"/>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CB4ED0A6-CD4E-ABB6-D9D4-4F58B5414D0A}"/>
              </a:ext>
            </a:extLst>
          </p:cNvPr>
          <p:cNvSpPr>
            <a:spLocks noGrp="1"/>
          </p:cNvSpPr>
          <p:nvPr>
            <p:ph type="ftr" sz="quarter" idx="11"/>
          </p:nvPr>
        </p:nvSpPr>
        <p:spPr>
          <a:xfrm>
            <a:off x="709127" y="6352801"/>
            <a:ext cx="6277972" cy="370171"/>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AFC3F7DC-1B1F-F067-E935-DA8F5244AD2A}"/>
              </a:ext>
            </a:extLst>
          </p:cNvPr>
          <p:cNvSpPr>
            <a:spLocks noGrp="1"/>
          </p:cNvSpPr>
          <p:nvPr>
            <p:ph type="sldNum" sz="quarter" idx="12"/>
          </p:nvPr>
        </p:nvSpPr>
        <p:spPr/>
        <p:txBody>
          <a:bodyPr/>
          <a:lstStyle/>
          <a:p>
            <a:fld id="{6F42FDE4-A7DD-41A7-A0A6-9B649FB43336}" type="slidenum">
              <a:rPr lang="en-US" smtClean="0"/>
              <a:pPr/>
              <a:t>8</a:t>
            </a:fld>
            <a:endParaRPr lang="en-US" dirty="0"/>
          </a:p>
        </p:txBody>
      </p:sp>
      <p:sp>
        <p:nvSpPr>
          <p:cNvPr id="9" name="Rectangle 3">
            <a:extLst>
              <a:ext uri="{FF2B5EF4-FFF2-40B4-BE49-F238E27FC236}">
                <a16:creationId xmlns:a16="http://schemas.microsoft.com/office/drawing/2014/main" id="{2D1B39C5-D8B6-F8F7-43A2-2AE9E525EB3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6">
            <a:extLst>
              <a:ext uri="{FF2B5EF4-FFF2-40B4-BE49-F238E27FC236}">
                <a16:creationId xmlns:a16="http://schemas.microsoft.com/office/drawing/2014/main" id="{12CB8999-B1F7-0A6F-62FB-6D4C25EA4B86}"/>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7">
            <a:extLst>
              <a:ext uri="{FF2B5EF4-FFF2-40B4-BE49-F238E27FC236}">
                <a16:creationId xmlns:a16="http://schemas.microsoft.com/office/drawing/2014/main" id="{AF269ECE-F536-A7F8-BBE9-28504B87D2E5}"/>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8">
            <a:extLst>
              <a:ext uri="{FF2B5EF4-FFF2-40B4-BE49-F238E27FC236}">
                <a16:creationId xmlns:a16="http://schemas.microsoft.com/office/drawing/2014/main" id="{05690A04-21F9-F352-9FE9-B55B20954337}"/>
              </a:ext>
            </a:extLst>
          </p:cNvPr>
          <p:cNvSpPr>
            <a:spLocks noChangeArrowheads="1"/>
          </p:cNvSpPr>
          <p:nvPr/>
        </p:nvSpPr>
        <p:spPr bwMode="auto">
          <a:xfrm>
            <a:off x="45720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472992BC-AD93-39A8-D311-0B01D737A3BB}"/>
              </a:ext>
            </a:extLst>
          </p:cNvPr>
          <p:cNvSpPr txBox="1"/>
          <p:nvPr/>
        </p:nvSpPr>
        <p:spPr>
          <a:xfrm>
            <a:off x="1635759" y="5595662"/>
            <a:ext cx="5872480" cy="369332"/>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Block diagram of Free Space Optical Communication system  </a:t>
            </a:r>
          </a:p>
        </p:txBody>
      </p:sp>
      <p:pic>
        <p:nvPicPr>
          <p:cNvPr id="8" name="Picture 7">
            <a:extLst>
              <a:ext uri="{FF2B5EF4-FFF2-40B4-BE49-F238E27FC236}">
                <a16:creationId xmlns:a16="http://schemas.microsoft.com/office/drawing/2014/main" id="{588420FC-C50D-608C-B638-8E9923DD79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54" y="2478393"/>
            <a:ext cx="8808691" cy="1976450"/>
          </a:xfrm>
          <a:prstGeom prst="rect">
            <a:avLst/>
          </a:prstGeom>
          <a:ln>
            <a:solidFill>
              <a:schemeClr val="tx1"/>
            </a:solidFill>
          </a:ln>
        </p:spPr>
      </p:pic>
    </p:spTree>
    <p:extLst>
      <p:ext uri="{BB962C8B-B14F-4D97-AF65-F5344CB8AC3E}">
        <p14:creationId xmlns:p14="http://schemas.microsoft.com/office/powerpoint/2010/main" val="831343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59A2408-794C-CB43-31AA-2BA5FF6D991E}"/>
              </a:ext>
            </a:extLst>
          </p:cNvPr>
          <p:cNvSpPr>
            <a:spLocks noGrp="1"/>
          </p:cNvSpPr>
          <p:nvPr>
            <p:ph idx="1"/>
          </p:nvPr>
        </p:nvSpPr>
        <p:spPr>
          <a:xfrm>
            <a:off x="1485098" y="1467853"/>
            <a:ext cx="7658902" cy="4932947"/>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Pseudo-Random Bit Sequence Generator (PRBS):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Generates a sequence of random binary bits (0s and 1s) that simulate the input digital data signal for testing the communication link performance</a:t>
            </a:r>
          </a:p>
          <a:p>
            <a:r>
              <a:rPr lang="en-US" sz="2000" b="1" dirty="0">
                <a:latin typeface="Calibri" panose="020F0502020204030204" pitchFamily="34" charset="0"/>
                <a:ea typeface="Calibri" panose="020F0502020204030204" pitchFamily="34" charset="0"/>
                <a:cs typeface="Calibri" panose="020F0502020204030204" pitchFamily="34" charset="0"/>
              </a:rPr>
              <a:t>NRZ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Converts the binary bit stream into a continuous Non-Return-to-Zero (NRZ) electrical pulse signal, suitable for modulation.</a:t>
            </a:r>
          </a:p>
          <a:p>
            <a:r>
              <a:rPr lang="en-US" sz="2000" b="1" dirty="0">
                <a:latin typeface="Calibri" panose="020F0502020204030204" pitchFamily="34" charset="0"/>
                <a:ea typeface="Calibri" panose="020F0502020204030204" pitchFamily="34" charset="0"/>
                <a:cs typeface="Calibri" panose="020F0502020204030204" pitchFamily="34" charset="0"/>
              </a:rPr>
              <a:t>CW Laser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Provides a continuous optical carrier signal with a specified wavelength and power, which is later modulated with the data signal.</a:t>
            </a:r>
          </a:p>
          <a:p>
            <a:r>
              <a:rPr lang="en-US" sz="2000" b="1" dirty="0">
                <a:latin typeface="Calibri" panose="020F0502020204030204" pitchFamily="34" charset="0"/>
                <a:ea typeface="Calibri" panose="020F0502020204030204" pitchFamily="34" charset="0"/>
                <a:cs typeface="Calibri" panose="020F0502020204030204" pitchFamily="34" charset="0"/>
              </a:rPr>
              <a:t>Mach-Zehnder Modulator:</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Modulates the optical carrier with the electrical NRZ signal to produce an optical signal carrying the data.</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5EADB2BB-B0D4-DBE4-FFC9-046E2F0057BA}"/>
              </a:ext>
            </a:extLst>
          </p:cNvPr>
          <p:cNvSpPr>
            <a:spLocks noGrp="1"/>
          </p:cNvSpPr>
          <p:nvPr>
            <p:ph type="dt" sz="half" idx="10"/>
          </p:nvPr>
        </p:nvSpPr>
        <p:spPr>
          <a:xfrm>
            <a:off x="7571298" y="6335612"/>
            <a:ext cx="952992" cy="370171"/>
          </a:xfrm>
        </p:spPr>
        <p:txBody>
          <a:bodyPr/>
          <a:lstStyle/>
          <a:p>
            <a:r>
              <a:rPr lang="en-US" dirty="0"/>
              <a:t>2024-2025</a:t>
            </a:r>
          </a:p>
        </p:txBody>
      </p:sp>
      <p:sp>
        <p:nvSpPr>
          <p:cNvPr id="4" name="Footer Placeholder 3">
            <a:extLst>
              <a:ext uri="{FF2B5EF4-FFF2-40B4-BE49-F238E27FC236}">
                <a16:creationId xmlns:a16="http://schemas.microsoft.com/office/drawing/2014/main" id="{C11F9952-8E1D-BAE5-282C-A0F8EA6AD41E}"/>
              </a:ext>
            </a:extLst>
          </p:cNvPr>
          <p:cNvSpPr>
            <a:spLocks noGrp="1"/>
          </p:cNvSpPr>
          <p:nvPr>
            <p:ph type="ftr" sz="quarter" idx="11"/>
          </p:nvPr>
        </p:nvSpPr>
        <p:spPr>
          <a:xfrm>
            <a:off x="1096206" y="6340658"/>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FE1A3C0F-9442-9A77-A55B-2BD488FF36B0}"/>
              </a:ext>
            </a:extLst>
          </p:cNvPr>
          <p:cNvSpPr>
            <a:spLocks noGrp="1"/>
          </p:cNvSpPr>
          <p:nvPr>
            <p:ph type="sldNum" sz="quarter" idx="12"/>
          </p:nvPr>
        </p:nvSpPr>
        <p:spPr/>
        <p:txBody>
          <a:bodyPr/>
          <a:lstStyle/>
          <a:p>
            <a:fld id="{6F42FDE4-A7DD-41A7-A0A6-9B649FB43336}" type="slidenum">
              <a:rPr lang="en-US" smtClean="0"/>
              <a:pPr/>
              <a:t>9</a:t>
            </a:fld>
            <a:endParaRPr lang="en-US" dirty="0"/>
          </a:p>
        </p:txBody>
      </p:sp>
      <p:sp>
        <p:nvSpPr>
          <p:cNvPr id="2" name="TextBox 1">
            <a:extLst>
              <a:ext uri="{FF2B5EF4-FFF2-40B4-BE49-F238E27FC236}">
                <a16:creationId xmlns:a16="http://schemas.microsoft.com/office/drawing/2014/main" id="{428DEBFF-979D-AA26-1DDB-C911DEE71F1F}"/>
              </a:ext>
            </a:extLst>
          </p:cNvPr>
          <p:cNvSpPr txBox="1"/>
          <p:nvPr/>
        </p:nvSpPr>
        <p:spPr>
          <a:xfrm>
            <a:off x="2757124" y="457200"/>
            <a:ext cx="3629752" cy="584775"/>
          </a:xfrm>
          <a:prstGeom prst="rect">
            <a:avLst/>
          </a:prstGeom>
          <a:noFill/>
        </p:spPr>
        <p:txBody>
          <a:bodyPr wrap="square" rtlCol="0">
            <a:spAutoFit/>
          </a:bodyPr>
          <a:lstStyle/>
          <a:p>
            <a:r>
              <a:rPr lang="en-IN" sz="3200" b="1" dirty="0">
                <a:latin typeface="Comic Sans MS" panose="030F0702030302020204" pitchFamily="66" charset="0"/>
              </a:rPr>
              <a:t>Components Used </a:t>
            </a:r>
          </a:p>
        </p:txBody>
      </p:sp>
    </p:spTree>
    <p:extLst>
      <p:ext uri="{BB962C8B-B14F-4D97-AF65-F5344CB8AC3E}">
        <p14:creationId xmlns:p14="http://schemas.microsoft.com/office/powerpoint/2010/main" val="1120357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B8B11B-08E4-ED66-FCDF-72BD52504A7B}"/>
              </a:ext>
            </a:extLst>
          </p:cNvPr>
          <p:cNvSpPr>
            <a:spLocks noGrp="1"/>
          </p:cNvSpPr>
          <p:nvPr>
            <p:ph idx="1"/>
          </p:nvPr>
        </p:nvSpPr>
        <p:spPr>
          <a:xfrm>
            <a:off x="607594" y="1381397"/>
            <a:ext cx="7928811" cy="3952603"/>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Optical Amplifier (EDFA) :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Boosts the optical signal power to compensate for transmission losses before sending it through the FSO or Optical Fiber channel..</a:t>
            </a:r>
          </a:p>
          <a:p>
            <a:r>
              <a:rPr lang="en-US" sz="2000" b="1" dirty="0">
                <a:latin typeface="Calibri" panose="020F0502020204030204" pitchFamily="34" charset="0"/>
                <a:ea typeface="Calibri" panose="020F0502020204030204" pitchFamily="34" charset="0"/>
                <a:cs typeface="Calibri" panose="020F0502020204030204" pitchFamily="34" charset="0"/>
              </a:rPr>
              <a:t>FSO Channel :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Simulates a free-space optical transmission path where attenuation due to weather (like rain and fog) can be set to study its impact on signal quality.</a:t>
            </a:r>
            <a:endParaRPr lang="en-IN" sz="2000" dirty="0">
              <a:latin typeface="Calibri" panose="020F0502020204030204" pitchFamily="34" charset="0"/>
              <a:ea typeface="Calibri" panose="020F0502020204030204" pitchFamily="34" charset="0"/>
              <a:cs typeface="Calibri" panose="020F0502020204030204" pitchFamily="34" charset="0"/>
            </a:endParaRPr>
          </a:p>
          <a:p>
            <a:pPr lvl="0" fontAlgn="base"/>
            <a:r>
              <a:rPr lang="en-US" sz="2000" b="1" dirty="0">
                <a:latin typeface="Calibri" panose="020F0502020204030204" pitchFamily="34" charset="0"/>
                <a:ea typeface="Calibri" panose="020F0502020204030204" pitchFamily="34" charset="0"/>
                <a:cs typeface="Calibri" panose="020F0502020204030204" pitchFamily="34" charset="0"/>
              </a:rPr>
              <a:t>Optical Fiber Link :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Represents the radio-over-fiber path where optical signals travel through a fiber medium with certain length and dispersion characteristics.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2F8B8143-BF5C-30DB-1371-FCA4ECAA4E5F}"/>
              </a:ext>
            </a:extLst>
          </p:cNvPr>
          <p:cNvSpPr>
            <a:spLocks noGrp="1"/>
          </p:cNvSpPr>
          <p:nvPr>
            <p:ph type="dt" sz="half" idx="10"/>
          </p:nvPr>
        </p:nvSpPr>
        <p:spPr>
          <a:xfrm>
            <a:off x="7664604" y="6322697"/>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266AE3D1-FC77-5C97-CA7A-E46C583844B5}"/>
              </a:ext>
            </a:extLst>
          </p:cNvPr>
          <p:cNvSpPr>
            <a:spLocks noGrp="1"/>
          </p:cNvSpPr>
          <p:nvPr>
            <p:ph type="ftr" sz="quarter" idx="11"/>
          </p:nvPr>
        </p:nvSpPr>
        <p:spPr>
          <a:xfrm>
            <a:off x="1096206" y="6322697"/>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6B6E281C-D82A-7D4C-3818-ABD678988DA9}"/>
              </a:ext>
            </a:extLst>
          </p:cNvPr>
          <p:cNvSpPr>
            <a:spLocks noGrp="1"/>
          </p:cNvSpPr>
          <p:nvPr>
            <p:ph type="sldNum" sz="quarter" idx="12"/>
          </p:nvPr>
        </p:nvSpPr>
        <p:spPr/>
        <p:txBody>
          <a:bodyPr/>
          <a:lstStyle/>
          <a:p>
            <a:fld id="{6F42FDE4-A7DD-41A7-A0A6-9B649FB43336}" type="slidenum">
              <a:rPr lang="en-US" smtClean="0"/>
              <a:pPr/>
              <a:t>10</a:t>
            </a:fld>
            <a:endParaRPr lang="en-US" dirty="0"/>
          </a:p>
        </p:txBody>
      </p:sp>
      <p:sp>
        <p:nvSpPr>
          <p:cNvPr id="7" name="TextBox 6">
            <a:extLst>
              <a:ext uri="{FF2B5EF4-FFF2-40B4-BE49-F238E27FC236}">
                <a16:creationId xmlns:a16="http://schemas.microsoft.com/office/drawing/2014/main" id="{37D8E6DF-25F4-6EA5-B74D-5D6AC429599F}"/>
              </a:ext>
            </a:extLst>
          </p:cNvPr>
          <p:cNvSpPr txBox="1"/>
          <p:nvPr/>
        </p:nvSpPr>
        <p:spPr>
          <a:xfrm>
            <a:off x="2780342" y="385570"/>
            <a:ext cx="3583314" cy="584775"/>
          </a:xfrm>
          <a:prstGeom prst="rect">
            <a:avLst/>
          </a:prstGeom>
          <a:noFill/>
        </p:spPr>
        <p:txBody>
          <a:bodyPr wrap="square">
            <a:spAutoFit/>
          </a:bodyPr>
          <a:lstStyle/>
          <a:p>
            <a:r>
              <a:rPr lang="en-IN" sz="3200" b="1" dirty="0">
                <a:latin typeface="Comic Sans MS" panose="030F0702030302020204" pitchFamily="66" charset="0"/>
              </a:rPr>
              <a:t>Components Used  </a:t>
            </a:r>
          </a:p>
        </p:txBody>
      </p:sp>
    </p:spTree>
    <p:extLst>
      <p:ext uri="{BB962C8B-B14F-4D97-AF65-F5344CB8AC3E}">
        <p14:creationId xmlns:p14="http://schemas.microsoft.com/office/powerpoint/2010/main" val="2681107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D8825C4-23E4-BD9F-2AAE-668AF93CC333}"/>
              </a:ext>
            </a:extLst>
          </p:cNvPr>
          <p:cNvSpPr>
            <a:spLocks noGrp="1"/>
          </p:cNvSpPr>
          <p:nvPr>
            <p:ph idx="1"/>
          </p:nvPr>
        </p:nvSpPr>
        <p:spPr>
          <a:xfrm>
            <a:off x="659731" y="1586825"/>
            <a:ext cx="7824537" cy="4727394"/>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PIN Photodiode (Receiver) :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Converts the received optical signal from each path (FSO and Optical Fiber) back into an electrical signal for further.</a:t>
            </a:r>
            <a:endParaRPr lang="en-IN" sz="2000" dirty="0">
              <a:latin typeface="Calibri" panose="020F0502020204030204" pitchFamily="34" charset="0"/>
              <a:ea typeface="Calibri" panose="020F0502020204030204" pitchFamily="34" charset="0"/>
              <a:cs typeface="Calibri" panose="020F0502020204030204" pitchFamily="34" charset="0"/>
            </a:endParaRPr>
          </a:p>
          <a:p>
            <a:pPr lvl="0" fontAlgn="base"/>
            <a:r>
              <a:rPr lang="en-US" sz="2000" b="1" dirty="0">
                <a:latin typeface="Calibri" panose="020F0502020204030204" pitchFamily="34" charset="0"/>
                <a:ea typeface="Calibri" panose="020F0502020204030204" pitchFamily="34" charset="0"/>
                <a:cs typeface="Calibri" panose="020F0502020204030204" pitchFamily="34" charset="0"/>
              </a:rPr>
              <a:t>3R Regenerator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Performs Re-amplification, Re-shaping, and Re-timing of the received signal to restore its quality and reduce errors.</a:t>
            </a:r>
          </a:p>
          <a:p>
            <a:r>
              <a:rPr lang="en-US" sz="2000" b="1" dirty="0">
                <a:latin typeface="Calibri" panose="020F0502020204030204" pitchFamily="34" charset="0"/>
                <a:ea typeface="Calibri" panose="020F0502020204030204" pitchFamily="34" charset="0"/>
                <a:cs typeface="Calibri" panose="020F0502020204030204" pitchFamily="34" charset="0"/>
              </a:rPr>
              <a:t>BER Analyzer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Calculates the Bit Error Rate (BER) by comparing transmitted and received bit sequences to evaluate system performance</a:t>
            </a:r>
            <a:r>
              <a:rPr lang="en-US" sz="2000" dirty="0">
                <a:latin typeface="Cambria" panose="02040503050406030204" pitchFamily="18" charset="0"/>
                <a:ea typeface="Cambria" panose="02040503050406030204" pitchFamily="18"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Optical power meter :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An optical power meter is a device used to measure the power of optical signals in fiber optic systems. </a:t>
            </a:r>
          </a:p>
          <a:p>
            <a:endParaRPr lang="en-US" sz="2000" dirty="0">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D6BC9DF7-AF87-54B2-94CC-4C572154B74A}"/>
              </a:ext>
            </a:extLst>
          </p:cNvPr>
          <p:cNvSpPr>
            <a:spLocks noGrp="1"/>
          </p:cNvSpPr>
          <p:nvPr>
            <p:ph type="dt" sz="half" idx="10"/>
          </p:nvPr>
        </p:nvSpPr>
        <p:spPr/>
        <p:txBody>
          <a:bodyPr/>
          <a:lstStyle/>
          <a:p>
            <a:r>
              <a:rPr lang="en-US" dirty="0"/>
              <a:t>2025-2026</a:t>
            </a:r>
          </a:p>
        </p:txBody>
      </p:sp>
      <p:sp>
        <p:nvSpPr>
          <p:cNvPr id="4" name="Footer Placeholder 3">
            <a:extLst>
              <a:ext uri="{FF2B5EF4-FFF2-40B4-BE49-F238E27FC236}">
                <a16:creationId xmlns:a16="http://schemas.microsoft.com/office/drawing/2014/main" id="{EE13666D-43E8-2C72-C5FF-118066504D69}"/>
              </a:ext>
            </a:extLst>
          </p:cNvPr>
          <p:cNvSpPr>
            <a:spLocks noGrp="1"/>
          </p:cNvSpPr>
          <p:nvPr>
            <p:ph type="ftr" sz="quarter" idx="11"/>
          </p:nvPr>
        </p:nvSpPr>
        <p:spPr/>
        <p:txBody>
          <a:bodyPr/>
          <a:lstStyle/>
          <a:p>
            <a:r>
              <a:rPr lang="en-US" dirty="0"/>
              <a:t>Dept. of E&amp;TC, SCOE, Pune</a:t>
            </a:r>
          </a:p>
        </p:txBody>
      </p:sp>
      <p:sp>
        <p:nvSpPr>
          <p:cNvPr id="5" name="Slide Number Placeholder 4">
            <a:extLst>
              <a:ext uri="{FF2B5EF4-FFF2-40B4-BE49-F238E27FC236}">
                <a16:creationId xmlns:a16="http://schemas.microsoft.com/office/drawing/2014/main" id="{93794550-21EB-9180-BBD7-26306D8C69B7}"/>
              </a:ext>
            </a:extLst>
          </p:cNvPr>
          <p:cNvSpPr>
            <a:spLocks noGrp="1"/>
          </p:cNvSpPr>
          <p:nvPr>
            <p:ph type="sldNum" sz="quarter" idx="12"/>
          </p:nvPr>
        </p:nvSpPr>
        <p:spPr/>
        <p:txBody>
          <a:bodyPr/>
          <a:lstStyle/>
          <a:p>
            <a:fld id="{6F42FDE4-A7DD-41A7-A0A6-9B649FB43336}" type="slidenum">
              <a:rPr lang="en-US" smtClean="0"/>
              <a:pPr/>
              <a:t>11</a:t>
            </a:fld>
            <a:endParaRPr lang="en-US" dirty="0"/>
          </a:p>
        </p:txBody>
      </p:sp>
      <p:sp>
        <p:nvSpPr>
          <p:cNvPr id="7" name="TextBox 6">
            <a:extLst>
              <a:ext uri="{FF2B5EF4-FFF2-40B4-BE49-F238E27FC236}">
                <a16:creationId xmlns:a16="http://schemas.microsoft.com/office/drawing/2014/main" id="{2B9F9851-98E1-1847-1E5A-9EF087752C59}"/>
              </a:ext>
            </a:extLst>
          </p:cNvPr>
          <p:cNvSpPr txBox="1"/>
          <p:nvPr/>
        </p:nvSpPr>
        <p:spPr>
          <a:xfrm>
            <a:off x="2495998" y="389723"/>
            <a:ext cx="4609322" cy="584775"/>
          </a:xfrm>
          <a:prstGeom prst="rect">
            <a:avLst/>
          </a:prstGeom>
          <a:noFill/>
        </p:spPr>
        <p:txBody>
          <a:bodyPr wrap="square">
            <a:spAutoFit/>
          </a:bodyPr>
          <a:lstStyle/>
          <a:p>
            <a:r>
              <a:rPr lang="en-IN" sz="3200" b="1" dirty="0">
                <a:latin typeface="Comic Sans MS" panose="030F0702030302020204" pitchFamily="66" charset="0"/>
              </a:rPr>
              <a:t>Components Used </a:t>
            </a:r>
          </a:p>
        </p:txBody>
      </p:sp>
    </p:spTree>
    <p:extLst>
      <p:ext uri="{BB962C8B-B14F-4D97-AF65-F5344CB8AC3E}">
        <p14:creationId xmlns:p14="http://schemas.microsoft.com/office/powerpoint/2010/main" val="3503153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EFE0-A7F4-71B6-5238-0226DFC04DFB}"/>
              </a:ext>
            </a:extLst>
          </p:cNvPr>
          <p:cNvSpPr>
            <a:spLocks noGrp="1"/>
          </p:cNvSpPr>
          <p:nvPr>
            <p:ph type="title"/>
          </p:nvPr>
        </p:nvSpPr>
        <p:spPr>
          <a:xfrm>
            <a:off x="2776820" y="332993"/>
            <a:ext cx="3590359" cy="694851"/>
          </a:xfrm>
        </p:spPr>
        <p:txBody>
          <a:bodyPr>
            <a:normAutofit fontScale="90000"/>
          </a:bodyPr>
          <a:lstStyle/>
          <a:p>
            <a:r>
              <a:rPr lang="en-IN" b="1" dirty="0">
                <a:latin typeface="Comic Sans MS" panose="030F0702030302020204" pitchFamily="66" charset="0"/>
              </a:rPr>
              <a:t>Components Used </a:t>
            </a:r>
            <a:br>
              <a:rPr lang="en-IN" b="1" dirty="0">
                <a:latin typeface="Comic Sans MS" panose="030F0702030302020204" pitchFamily="66" charset="0"/>
              </a:rPr>
            </a:br>
            <a:endParaRPr lang="en-IN" dirty="0"/>
          </a:p>
        </p:txBody>
      </p:sp>
      <p:sp>
        <p:nvSpPr>
          <p:cNvPr id="6" name="Content Placeholder 5">
            <a:extLst>
              <a:ext uri="{FF2B5EF4-FFF2-40B4-BE49-F238E27FC236}">
                <a16:creationId xmlns:a16="http://schemas.microsoft.com/office/drawing/2014/main" id="{909EBF06-13F1-4477-31C2-4B7448BD9568}"/>
              </a:ext>
            </a:extLst>
          </p:cNvPr>
          <p:cNvSpPr>
            <a:spLocks noGrp="1"/>
          </p:cNvSpPr>
          <p:nvPr>
            <p:ph idx="1"/>
          </p:nvPr>
        </p:nvSpPr>
        <p:spPr>
          <a:xfrm>
            <a:off x="811751" y="1699174"/>
            <a:ext cx="7520498" cy="3581486"/>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Eye Diagram Analyzer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Displays the eye pattern of the received signal, helping analyze timing jitter, noise, and signal quality visually.</a:t>
            </a:r>
          </a:p>
          <a:p>
            <a:r>
              <a:rPr lang="en-US" sz="2000" b="1" dirty="0">
                <a:latin typeface="Calibri" panose="020F0502020204030204" pitchFamily="34" charset="0"/>
                <a:ea typeface="Calibri" panose="020F0502020204030204" pitchFamily="34" charset="0"/>
                <a:cs typeface="Calibri" panose="020F0502020204030204" pitchFamily="34" charset="0"/>
              </a:rPr>
              <a:t>Low Pass Bassel Filter :</a:t>
            </a:r>
          </a:p>
          <a:p>
            <a:pPr marL="360363" indent="-360363">
              <a:buNone/>
            </a:pPr>
            <a:r>
              <a:rPr lang="en-US" sz="2000" dirty="0">
                <a:latin typeface="Calibri" panose="020F0502020204030204" pitchFamily="34" charset="0"/>
                <a:ea typeface="Calibri" panose="020F0502020204030204" pitchFamily="34" charset="0"/>
                <a:cs typeface="Calibri" panose="020F0502020204030204" pitchFamily="34" charset="0"/>
              </a:rPr>
              <a:t>      Low-pass Basel filter allows signals with frequencies below a    certain cutoff to pass while attenuating higher frequencies. It’s commonly used to remove high-frequency noise from signals.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E43D41FC-573B-8FD3-31FC-8BBB7D60954F}"/>
              </a:ext>
            </a:extLst>
          </p:cNvPr>
          <p:cNvSpPr>
            <a:spLocks noGrp="1"/>
          </p:cNvSpPr>
          <p:nvPr>
            <p:ph type="dt" sz="half" idx="10"/>
          </p:nvPr>
        </p:nvSpPr>
        <p:spPr/>
        <p:txBody>
          <a:bodyPr/>
          <a:lstStyle/>
          <a:p>
            <a:r>
              <a:rPr lang="en-US" dirty="0"/>
              <a:t>2024-2025</a:t>
            </a:r>
          </a:p>
        </p:txBody>
      </p:sp>
      <p:sp>
        <p:nvSpPr>
          <p:cNvPr id="4" name="Footer Placeholder 3">
            <a:extLst>
              <a:ext uri="{FF2B5EF4-FFF2-40B4-BE49-F238E27FC236}">
                <a16:creationId xmlns:a16="http://schemas.microsoft.com/office/drawing/2014/main" id="{9A3664B4-39E0-376D-94CD-6EDA18ED7132}"/>
              </a:ext>
            </a:extLst>
          </p:cNvPr>
          <p:cNvSpPr>
            <a:spLocks noGrp="1"/>
          </p:cNvSpPr>
          <p:nvPr>
            <p:ph type="ftr" sz="quarter" idx="11"/>
          </p:nvPr>
        </p:nvSpPr>
        <p:spPr/>
        <p:txBody>
          <a:bodyPr/>
          <a:lstStyle/>
          <a:p>
            <a:r>
              <a:rPr lang="en-US" dirty="0"/>
              <a:t>Dept. of E&amp;TC, SCOE, Pune</a:t>
            </a:r>
          </a:p>
        </p:txBody>
      </p:sp>
      <p:sp>
        <p:nvSpPr>
          <p:cNvPr id="5" name="Slide Number Placeholder 4">
            <a:extLst>
              <a:ext uri="{FF2B5EF4-FFF2-40B4-BE49-F238E27FC236}">
                <a16:creationId xmlns:a16="http://schemas.microsoft.com/office/drawing/2014/main" id="{A8263B15-9502-90C8-2A76-180E8DE5A0F2}"/>
              </a:ext>
            </a:extLst>
          </p:cNvPr>
          <p:cNvSpPr>
            <a:spLocks noGrp="1"/>
          </p:cNvSpPr>
          <p:nvPr>
            <p:ph type="sldNum" sz="quarter" idx="12"/>
          </p:nvPr>
        </p:nvSpPr>
        <p:spPr/>
        <p:txBody>
          <a:bodyPr/>
          <a:lstStyle/>
          <a:p>
            <a:fld id="{6F42FDE4-A7DD-41A7-A0A6-9B649FB43336}" type="slidenum">
              <a:rPr lang="en-US" smtClean="0"/>
              <a:pPr/>
              <a:t>12</a:t>
            </a:fld>
            <a:endParaRPr lang="en-US" dirty="0"/>
          </a:p>
        </p:txBody>
      </p:sp>
    </p:spTree>
    <p:extLst>
      <p:ext uri="{BB962C8B-B14F-4D97-AF65-F5344CB8AC3E}">
        <p14:creationId xmlns:p14="http://schemas.microsoft.com/office/powerpoint/2010/main" val="1549587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B2739-F6AE-7608-922D-B991BC38F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912DE-4E5A-B32F-9D88-4266E8FBCE33}"/>
              </a:ext>
            </a:extLst>
          </p:cNvPr>
          <p:cNvSpPr>
            <a:spLocks noGrp="1"/>
          </p:cNvSpPr>
          <p:nvPr>
            <p:ph type="title"/>
          </p:nvPr>
        </p:nvSpPr>
        <p:spPr>
          <a:xfrm>
            <a:off x="1762251" y="449025"/>
            <a:ext cx="6589199" cy="1014353"/>
          </a:xfrm>
        </p:spPr>
        <p:txBody>
          <a:bodyPr>
            <a:normAutofit fontScale="90000"/>
          </a:bodyPr>
          <a:lstStyle/>
          <a:p>
            <a:r>
              <a:rPr lang="en-IN" b="1" dirty="0">
                <a:latin typeface="Comic Sans MS" panose="030F0702030302020204" pitchFamily="66" charset="0"/>
              </a:rPr>
              <a:t>Circuit Diagram on </a:t>
            </a:r>
            <a:r>
              <a:rPr lang="en-IN" b="1" dirty="0" err="1">
                <a:latin typeface="Comic Sans MS" panose="030F0702030302020204" pitchFamily="66" charset="0"/>
              </a:rPr>
              <a:t>OptiSystem</a:t>
            </a:r>
            <a:r>
              <a:rPr lang="en-IN" b="1" dirty="0">
                <a:latin typeface="Comic Sans MS" panose="030F0702030302020204" pitchFamily="66" charset="0"/>
              </a:rPr>
              <a:t> </a:t>
            </a:r>
            <a:r>
              <a:rPr lang="en-IN" b="1" dirty="0"/>
              <a:t> </a:t>
            </a:r>
          </a:p>
        </p:txBody>
      </p:sp>
      <p:sp>
        <p:nvSpPr>
          <p:cNvPr id="3" name="Date Placeholder 2">
            <a:extLst>
              <a:ext uri="{FF2B5EF4-FFF2-40B4-BE49-F238E27FC236}">
                <a16:creationId xmlns:a16="http://schemas.microsoft.com/office/drawing/2014/main" id="{1B9BCD18-646F-5A59-B113-327C4C459F18}"/>
              </a:ext>
            </a:extLst>
          </p:cNvPr>
          <p:cNvSpPr>
            <a:spLocks noGrp="1"/>
          </p:cNvSpPr>
          <p:nvPr>
            <p:ph type="dt" sz="half" idx="10"/>
          </p:nvPr>
        </p:nvSpPr>
        <p:spPr>
          <a:xfrm>
            <a:off x="7779448" y="6302928"/>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E944C7D2-DF16-B663-752B-A2C18ED41487}"/>
              </a:ext>
            </a:extLst>
          </p:cNvPr>
          <p:cNvSpPr>
            <a:spLocks noGrp="1"/>
          </p:cNvSpPr>
          <p:nvPr>
            <p:ph type="ftr" sz="quarter" idx="11"/>
          </p:nvPr>
        </p:nvSpPr>
        <p:spPr>
          <a:xfrm>
            <a:off x="981362" y="6320174"/>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4FE8CFF4-2A33-F759-B83F-84935542E247}"/>
              </a:ext>
            </a:extLst>
          </p:cNvPr>
          <p:cNvSpPr>
            <a:spLocks noGrp="1"/>
          </p:cNvSpPr>
          <p:nvPr>
            <p:ph type="sldNum" sz="quarter" idx="12"/>
          </p:nvPr>
        </p:nvSpPr>
        <p:spPr/>
        <p:txBody>
          <a:bodyPr/>
          <a:lstStyle/>
          <a:p>
            <a:fld id="{6F42FDE4-A7DD-41A7-A0A6-9B649FB43336}" type="slidenum">
              <a:rPr lang="en-US" smtClean="0"/>
              <a:pPr/>
              <a:t>13</a:t>
            </a:fld>
            <a:endParaRPr lang="en-US" dirty="0"/>
          </a:p>
        </p:txBody>
      </p:sp>
      <p:sp>
        <p:nvSpPr>
          <p:cNvPr id="11" name="AutoShape 2">
            <a:extLst>
              <a:ext uri="{FF2B5EF4-FFF2-40B4-BE49-F238E27FC236}">
                <a16:creationId xmlns:a16="http://schemas.microsoft.com/office/drawing/2014/main" id="{7EB6BA64-3091-1350-D1EF-42D5524002BD}"/>
              </a:ext>
            </a:extLst>
          </p:cNvPr>
          <p:cNvSpPr>
            <a:spLocks noChangeAspect="1" noChangeArrowheads="1"/>
          </p:cNvSpPr>
          <p:nvPr/>
        </p:nvSpPr>
        <p:spPr bwMode="auto">
          <a:xfrm>
            <a:off x="2926702" y="215692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AutoShape 4">
            <a:extLst>
              <a:ext uri="{FF2B5EF4-FFF2-40B4-BE49-F238E27FC236}">
                <a16:creationId xmlns:a16="http://schemas.microsoft.com/office/drawing/2014/main" id="{EEBCC5C5-28FB-7182-091C-8C8DAA2C7C14}"/>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3" name="TextBox 12">
            <a:extLst>
              <a:ext uri="{FF2B5EF4-FFF2-40B4-BE49-F238E27FC236}">
                <a16:creationId xmlns:a16="http://schemas.microsoft.com/office/drawing/2014/main" id="{EA3D0517-88F1-EBD7-3B23-CFA049C0B477}"/>
              </a:ext>
            </a:extLst>
          </p:cNvPr>
          <p:cNvSpPr txBox="1"/>
          <p:nvPr/>
        </p:nvSpPr>
        <p:spPr>
          <a:xfrm>
            <a:off x="3208236" y="5586619"/>
            <a:ext cx="3032327" cy="369332"/>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Circuit diagram of FSO system</a:t>
            </a:r>
          </a:p>
        </p:txBody>
      </p:sp>
      <p:pic>
        <p:nvPicPr>
          <p:cNvPr id="7" name="Picture 6">
            <a:extLst>
              <a:ext uri="{FF2B5EF4-FFF2-40B4-BE49-F238E27FC236}">
                <a16:creationId xmlns:a16="http://schemas.microsoft.com/office/drawing/2014/main" id="{038B3896-71CB-7B45-B720-312BDAC4282D}"/>
              </a:ext>
            </a:extLst>
          </p:cNvPr>
          <p:cNvPicPr>
            <a:picLocks noChangeAspect="1"/>
          </p:cNvPicPr>
          <p:nvPr/>
        </p:nvPicPr>
        <p:blipFill rotWithShape="1">
          <a:blip r:embed="rId2">
            <a:extLst>
              <a:ext uri="{28A0092B-C50C-407E-A947-70E740481C1C}">
                <a14:useLocalDpi xmlns:a14="http://schemas.microsoft.com/office/drawing/2010/main" val="0"/>
              </a:ext>
            </a:extLst>
          </a:blip>
          <a:srcRect r="6413"/>
          <a:stretch>
            <a:fillRect/>
          </a:stretch>
        </p:blipFill>
        <p:spPr bwMode="auto">
          <a:xfrm>
            <a:off x="226910" y="1463378"/>
            <a:ext cx="8711350" cy="4141801"/>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8788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B6696-F5C4-A3AA-FBAD-70CF96A78F64}"/>
              </a:ext>
            </a:extLst>
          </p:cNvPr>
          <p:cNvSpPr>
            <a:spLocks noGrp="1"/>
          </p:cNvSpPr>
          <p:nvPr>
            <p:ph type="title"/>
          </p:nvPr>
        </p:nvSpPr>
        <p:spPr>
          <a:xfrm>
            <a:off x="1716833" y="223935"/>
            <a:ext cx="7138409" cy="1681065"/>
          </a:xfrm>
        </p:spPr>
        <p:txBody>
          <a:bodyPr>
            <a:normAutofit/>
          </a:bodyPr>
          <a:lstStyle/>
          <a:p>
            <a:r>
              <a:rPr lang="en-IN" sz="3200" b="1" dirty="0">
                <a:latin typeface="Comic Sans MS" panose="030F0702030302020204" pitchFamily="66" charset="0"/>
              </a:rPr>
              <a:t>Simulation Result on OptiSystem :</a:t>
            </a:r>
          </a:p>
        </p:txBody>
      </p:sp>
      <p:sp>
        <p:nvSpPr>
          <p:cNvPr id="3" name="Date Placeholder 2">
            <a:extLst>
              <a:ext uri="{FF2B5EF4-FFF2-40B4-BE49-F238E27FC236}">
                <a16:creationId xmlns:a16="http://schemas.microsoft.com/office/drawing/2014/main" id="{57422E5C-1CFB-D36D-D74C-D6A6F34144A8}"/>
              </a:ext>
            </a:extLst>
          </p:cNvPr>
          <p:cNvSpPr>
            <a:spLocks noGrp="1"/>
          </p:cNvSpPr>
          <p:nvPr>
            <p:ph type="dt" sz="half" idx="10"/>
          </p:nvPr>
        </p:nvSpPr>
        <p:spPr>
          <a:xfrm>
            <a:off x="7791061" y="6357491"/>
            <a:ext cx="869017" cy="185086"/>
          </a:xfrm>
        </p:spPr>
        <p:txBody>
          <a:bodyPr/>
          <a:lstStyle/>
          <a:p>
            <a:r>
              <a:rPr lang="en-US" dirty="0"/>
              <a:t>2025-2026</a:t>
            </a:r>
          </a:p>
        </p:txBody>
      </p:sp>
      <p:sp>
        <p:nvSpPr>
          <p:cNvPr id="4" name="Footer Placeholder 3">
            <a:extLst>
              <a:ext uri="{FF2B5EF4-FFF2-40B4-BE49-F238E27FC236}">
                <a16:creationId xmlns:a16="http://schemas.microsoft.com/office/drawing/2014/main" id="{C63CC0F5-B38D-18B4-C7D2-316DE7632077}"/>
              </a:ext>
            </a:extLst>
          </p:cNvPr>
          <p:cNvSpPr>
            <a:spLocks noGrp="1"/>
          </p:cNvSpPr>
          <p:nvPr>
            <p:ph type="ftr" sz="quarter" idx="11"/>
          </p:nvPr>
        </p:nvSpPr>
        <p:spPr>
          <a:xfrm>
            <a:off x="605220" y="6320174"/>
            <a:ext cx="6436593"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BF1CB3E4-7ED4-3F30-F398-C61076B8FBDA}"/>
              </a:ext>
            </a:extLst>
          </p:cNvPr>
          <p:cNvSpPr>
            <a:spLocks noGrp="1"/>
          </p:cNvSpPr>
          <p:nvPr>
            <p:ph type="sldNum" sz="quarter" idx="12"/>
          </p:nvPr>
        </p:nvSpPr>
        <p:spPr/>
        <p:txBody>
          <a:bodyPr/>
          <a:lstStyle/>
          <a:p>
            <a:fld id="{6F42FDE4-A7DD-41A7-A0A6-9B649FB43336}" type="slidenum">
              <a:rPr lang="en-US" smtClean="0"/>
              <a:pPr/>
              <a:t>14</a:t>
            </a:fld>
            <a:endParaRPr lang="en-US" dirty="0"/>
          </a:p>
        </p:txBody>
      </p:sp>
      <p:sp>
        <p:nvSpPr>
          <p:cNvPr id="12" name="Rectangle 1">
            <a:extLst>
              <a:ext uri="{FF2B5EF4-FFF2-40B4-BE49-F238E27FC236}">
                <a16:creationId xmlns:a16="http://schemas.microsoft.com/office/drawing/2014/main" id="{0319A04B-DEB2-F665-DFA7-593F2844E3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2">
            <a:extLst>
              <a:ext uri="{FF2B5EF4-FFF2-40B4-BE49-F238E27FC236}">
                <a16:creationId xmlns:a16="http://schemas.microsoft.com/office/drawing/2014/main" id="{CDD864E3-E45A-F5F8-1E57-1388545CE8FC}"/>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2AF95C85-654F-0768-7633-4B485440DE0B}"/>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0F55E9CA-F7CB-237E-76E3-2D544767DE61}"/>
              </a:ext>
            </a:extLst>
          </p:cNvPr>
          <p:cNvPicPr>
            <a:picLocks noChangeAspect="1"/>
          </p:cNvPicPr>
          <p:nvPr/>
        </p:nvPicPr>
        <p:blipFill>
          <a:blip r:embed="rId2"/>
          <a:stretch>
            <a:fillRect/>
          </a:stretch>
        </p:blipFill>
        <p:spPr>
          <a:xfrm>
            <a:off x="189552" y="2057399"/>
            <a:ext cx="4230049" cy="3510682"/>
          </a:xfrm>
          <a:prstGeom prst="rect">
            <a:avLst/>
          </a:prstGeom>
          <a:ln>
            <a:solidFill>
              <a:schemeClr val="tx1"/>
            </a:solidFill>
          </a:ln>
        </p:spPr>
      </p:pic>
      <p:sp>
        <p:nvSpPr>
          <p:cNvPr id="11" name="TextBox 10">
            <a:extLst>
              <a:ext uri="{FF2B5EF4-FFF2-40B4-BE49-F238E27FC236}">
                <a16:creationId xmlns:a16="http://schemas.microsoft.com/office/drawing/2014/main" id="{49DA2315-91C1-73D0-7FAD-4C732C8EE1C7}"/>
              </a:ext>
            </a:extLst>
          </p:cNvPr>
          <p:cNvSpPr txBox="1"/>
          <p:nvPr/>
        </p:nvSpPr>
        <p:spPr>
          <a:xfrm>
            <a:off x="3304315" y="1417756"/>
            <a:ext cx="2840170"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 FSO channel Results </a:t>
            </a:r>
          </a:p>
        </p:txBody>
      </p:sp>
      <p:pic>
        <p:nvPicPr>
          <p:cNvPr id="16" name="Picture 15">
            <a:extLst>
              <a:ext uri="{FF2B5EF4-FFF2-40B4-BE49-F238E27FC236}">
                <a16:creationId xmlns:a16="http://schemas.microsoft.com/office/drawing/2014/main" id="{ED4B953F-703B-7200-947A-43F8C2A81C37}"/>
              </a:ext>
            </a:extLst>
          </p:cNvPr>
          <p:cNvPicPr>
            <a:picLocks noChangeAspect="1"/>
          </p:cNvPicPr>
          <p:nvPr/>
        </p:nvPicPr>
        <p:blipFill>
          <a:blip r:embed="rId3" cstate="print">
            <a:extLst>
              <a:ext uri="{28A0092B-C50C-407E-A947-70E740481C1C}">
                <a14:useLocalDpi xmlns:a14="http://schemas.microsoft.com/office/drawing/2010/main" val="0"/>
              </a:ext>
            </a:extLst>
          </a:blip>
          <a:srcRect t="4600"/>
          <a:stretch>
            <a:fillRect/>
          </a:stretch>
        </p:blipFill>
        <p:spPr>
          <a:xfrm>
            <a:off x="4561290" y="2065750"/>
            <a:ext cx="4504104" cy="3510679"/>
          </a:xfrm>
          <a:prstGeom prst="rect">
            <a:avLst/>
          </a:prstGeom>
          <a:ln>
            <a:solidFill>
              <a:schemeClr val="tx1"/>
            </a:solidFill>
          </a:ln>
        </p:spPr>
      </p:pic>
      <p:sp>
        <p:nvSpPr>
          <p:cNvPr id="17" name="TextBox 16">
            <a:extLst>
              <a:ext uri="{FF2B5EF4-FFF2-40B4-BE49-F238E27FC236}">
                <a16:creationId xmlns:a16="http://schemas.microsoft.com/office/drawing/2014/main" id="{3C7FF6AF-2855-99BD-5E9A-8C819690260D}"/>
              </a:ext>
            </a:extLst>
          </p:cNvPr>
          <p:cNvSpPr txBox="1"/>
          <p:nvPr/>
        </p:nvSpPr>
        <p:spPr>
          <a:xfrm>
            <a:off x="1232860" y="5624607"/>
            <a:ext cx="2143432" cy="307777"/>
          </a:xfrm>
          <a:prstGeom prst="rect">
            <a:avLst/>
          </a:prstGeom>
          <a:solidFill>
            <a:schemeClr val="bg1"/>
          </a:solidFill>
        </p:spPr>
        <p:txBody>
          <a:bodyPr wrap="square" rtlCol="0">
            <a:spAutoFit/>
          </a:bodyPr>
          <a:lstStyle/>
          <a:p>
            <a:r>
              <a:rPr lang="en-IN" sz="1400" b="1" dirty="0"/>
              <a:t>FSO channel spectrum</a:t>
            </a:r>
          </a:p>
        </p:txBody>
      </p:sp>
      <p:sp>
        <p:nvSpPr>
          <p:cNvPr id="19" name="TextBox 18">
            <a:extLst>
              <a:ext uri="{FF2B5EF4-FFF2-40B4-BE49-F238E27FC236}">
                <a16:creationId xmlns:a16="http://schemas.microsoft.com/office/drawing/2014/main" id="{AD0633FD-05C4-FE6E-D4FA-373BE2A8BA6B}"/>
              </a:ext>
            </a:extLst>
          </p:cNvPr>
          <p:cNvSpPr txBox="1"/>
          <p:nvPr/>
        </p:nvSpPr>
        <p:spPr>
          <a:xfrm>
            <a:off x="6164413" y="5656442"/>
            <a:ext cx="1300187" cy="307777"/>
          </a:xfrm>
          <a:prstGeom prst="rect">
            <a:avLst/>
          </a:prstGeom>
          <a:solidFill>
            <a:schemeClr val="bg1"/>
          </a:solidFill>
        </p:spPr>
        <p:txBody>
          <a:bodyPr wrap="square" rtlCol="0">
            <a:spAutoFit/>
          </a:bodyPr>
          <a:lstStyle/>
          <a:p>
            <a:r>
              <a:rPr lang="en-IN" sz="1400" b="1" dirty="0"/>
              <a:t>EYE diagram</a:t>
            </a:r>
          </a:p>
        </p:txBody>
      </p:sp>
    </p:spTree>
    <p:extLst>
      <p:ext uri="{BB962C8B-B14F-4D97-AF65-F5344CB8AC3E}">
        <p14:creationId xmlns:p14="http://schemas.microsoft.com/office/powerpoint/2010/main" val="3887253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7389-BFE3-4762-9DCF-B92747281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2D569-089E-51C8-DAC6-BAF24018E1DE}"/>
              </a:ext>
            </a:extLst>
          </p:cNvPr>
          <p:cNvSpPr>
            <a:spLocks noGrp="1"/>
          </p:cNvSpPr>
          <p:nvPr>
            <p:ph type="title"/>
          </p:nvPr>
        </p:nvSpPr>
        <p:spPr>
          <a:xfrm>
            <a:off x="1716833" y="223935"/>
            <a:ext cx="7138409" cy="1681065"/>
          </a:xfrm>
        </p:spPr>
        <p:txBody>
          <a:bodyPr>
            <a:normAutofit/>
          </a:bodyPr>
          <a:lstStyle/>
          <a:p>
            <a:r>
              <a:rPr lang="en-IN" sz="3200" b="1" dirty="0">
                <a:latin typeface="Comic Sans MS" panose="030F0702030302020204" pitchFamily="66" charset="0"/>
              </a:rPr>
              <a:t>Simulation Result on OptiSystem :</a:t>
            </a:r>
          </a:p>
        </p:txBody>
      </p:sp>
      <p:sp>
        <p:nvSpPr>
          <p:cNvPr id="3" name="Date Placeholder 2">
            <a:extLst>
              <a:ext uri="{FF2B5EF4-FFF2-40B4-BE49-F238E27FC236}">
                <a16:creationId xmlns:a16="http://schemas.microsoft.com/office/drawing/2014/main" id="{C7163D64-2BDA-234C-BDD3-233BCAA9374A}"/>
              </a:ext>
            </a:extLst>
          </p:cNvPr>
          <p:cNvSpPr>
            <a:spLocks noGrp="1"/>
          </p:cNvSpPr>
          <p:nvPr>
            <p:ph type="dt" sz="half" idx="10"/>
          </p:nvPr>
        </p:nvSpPr>
        <p:spPr>
          <a:xfrm>
            <a:off x="7791061" y="6357491"/>
            <a:ext cx="869017" cy="185086"/>
          </a:xfrm>
        </p:spPr>
        <p:txBody>
          <a:bodyPr/>
          <a:lstStyle/>
          <a:p>
            <a:r>
              <a:rPr lang="en-US" dirty="0"/>
              <a:t>2025-2026</a:t>
            </a:r>
          </a:p>
        </p:txBody>
      </p:sp>
      <p:sp>
        <p:nvSpPr>
          <p:cNvPr id="4" name="Footer Placeholder 3">
            <a:extLst>
              <a:ext uri="{FF2B5EF4-FFF2-40B4-BE49-F238E27FC236}">
                <a16:creationId xmlns:a16="http://schemas.microsoft.com/office/drawing/2014/main" id="{C6E696CE-E5F4-6FFC-1A87-8327880F475C}"/>
              </a:ext>
            </a:extLst>
          </p:cNvPr>
          <p:cNvSpPr>
            <a:spLocks noGrp="1"/>
          </p:cNvSpPr>
          <p:nvPr>
            <p:ph type="ftr" sz="quarter" idx="11"/>
          </p:nvPr>
        </p:nvSpPr>
        <p:spPr>
          <a:xfrm>
            <a:off x="605220" y="6320174"/>
            <a:ext cx="6436593"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14FCECAE-98B0-A040-879F-0F0D60D8B842}"/>
              </a:ext>
            </a:extLst>
          </p:cNvPr>
          <p:cNvSpPr>
            <a:spLocks noGrp="1"/>
          </p:cNvSpPr>
          <p:nvPr>
            <p:ph type="sldNum" sz="quarter" idx="12"/>
          </p:nvPr>
        </p:nvSpPr>
        <p:spPr/>
        <p:txBody>
          <a:bodyPr/>
          <a:lstStyle/>
          <a:p>
            <a:fld id="{6F42FDE4-A7DD-41A7-A0A6-9B649FB43336}" type="slidenum">
              <a:rPr lang="en-US" smtClean="0"/>
              <a:pPr/>
              <a:t>15</a:t>
            </a:fld>
            <a:endParaRPr lang="en-US" dirty="0"/>
          </a:p>
        </p:txBody>
      </p:sp>
      <p:sp>
        <p:nvSpPr>
          <p:cNvPr id="12" name="Rectangle 1">
            <a:extLst>
              <a:ext uri="{FF2B5EF4-FFF2-40B4-BE49-F238E27FC236}">
                <a16:creationId xmlns:a16="http://schemas.microsoft.com/office/drawing/2014/main" id="{44E56123-613F-C013-8E41-1F19A9D1046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2">
            <a:extLst>
              <a:ext uri="{FF2B5EF4-FFF2-40B4-BE49-F238E27FC236}">
                <a16:creationId xmlns:a16="http://schemas.microsoft.com/office/drawing/2014/main" id="{D0BD0A5E-0CDA-7583-2F03-79F1C9F8AE4F}"/>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E567A6D2-5D82-2F9E-C1EF-7BBE3F58EE24}"/>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TextBox 10">
            <a:extLst>
              <a:ext uri="{FF2B5EF4-FFF2-40B4-BE49-F238E27FC236}">
                <a16:creationId xmlns:a16="http://schemas.microsoft.com/office/drawing/2014/main" id="{82B0B6B9-A346-E728-713E-90F7DAFF19CA}"/>
              </a:ext>
            </a:extLst>
          </p:cNvPr>
          <p:cNvSpPr txBox="1"/>
          <p:nvPr/>
        </p:nvSpPr>
        <p:spPr>
          <a:xfrm>
            <a:off x="3304315" y="1417756"/>
            <a:ext cx="2840170"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 FSO channel Results </a:t>
            </a:r>
          </a:p>
        </p:txBody>
      </p:sp>
      <p:pic>
        <p:nvPicPr>
          <p:cNvPr id="43" name="Picture 42">
            <a:extLst>
              <a:ext uri="{FF2B5EF4-FFF2-40B4-BE49-F238E27FC236}">
                <a16:creationId xmlns:a16="http://schemas.microsoft.com/office/drawing/2014/main" id="{2408C965-2C58-FCA9-FC80-3AA4921405C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3737"/>
          <a:stretch>
            <a:fillRect/>
          </a:stretch>
        </p:blipFill>
        <p:spPr bwMode="auto">
          <a:xfrm>
            <a:off x="1980586" y="2119491"/>
            <a:ext cx="1564526" cy="1533620"/>
          </a:xfrm>
          <a:prstGeom prst="rect">
            <a:avLst/>
          </a:prstGeom>
          <a:noFill/>
          <a:ln>
            <a:solidFill>
              <a:schemeClr val="tx1"/>
            </a:solidFill>
          </a:ln>
          <a:extLst>
            <a:ext uri="{53640926-AAD7-44D8-BBD7-CCE9431645EC}">
              <a14:shadowObscured xmlns:a14="http://schemas.microsoft.com/office/drawing/2010/main"/>
            </a:ext>
          </a:extLst>
        </p:spPr>
      </p:pic>
      <p:pic>
        <p:nvPicPr>
          <p:cNvPr id="44" name="Picture 43">
            <a:extLst>
              <a:ext uri="{FF2B5EF4-FFF2-40B4-BE49-F238E27FC236}">
                <a16:creationId xmlns:a16="http://schemas.microsoft.com/office/drawing/2014/main" id="{530831E0-BA74-11AD-ADF6-7A8F96C2900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3563"/>
          <a:stretch>
            <a:fillRect/>
          </a:stretch>
        </p:blipFill>
        <p:spPr bwMode="auto">
          <a:xfrm>
            <a:off x="3724310" y="2098069"/>
            <a:ext cx="1564526" cy="1539209"/>
          </a:xfrm>
          <a:prstGeom prst="rect">
            <a:avLst/>
          </a:prstGeom>
          <a:noFill/>
          <a:ln>
            <a:solidFill>
              <a:schemeClr val="tx1"/>
            </a:solidFill>
          </a:ln>
          <a:extLst>
            <a:ext uri="{53640926-AAD7-44D8-BBD7-CCE9431645EC}">
              <a14:shadowObscured xmlns:a14="http://schemas.microsoft.com/office/drawing/2010/main"/>
            </a:ext>
          </a:extLst>
        </p:spPr>
      </p:pic>
      <p:pic>
        <p:nvPicPr>
          <p:cNvPr id="45" name="Picture 44">
            <a:extLst>
              <a:ext uri="{FF2B5EF4-FFF2-40B4-BE49-F238E27FC236}">
                <a16:creationId xmlns:a16="http://schemas.microsoft.com/office/drawing/2014/main" id="{5789B76D-5838-B5CB-1F53-6996160A21C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23490"/>
          <a:stretch>
            <a:fillRect/>
          </a:stretch>
        </p:blipFill>
        <p:spPr bwMode="auto">
          <a:xfrm>
            <a:off x="5468035" y="2094150"/>
            <a:ext cx="1564526" cy="1556743"/>
          </a:xfrm>
          <a:prstGeom prst="rect">
            <a:avLst/>
          </a:prstGeom>
          <a:noFill/>
          <a:ln>
            <a:solidFill>
              <a:schemeClr val="tx1"/>
            </a:solidFill>
          </a:ln>
          <a:extLst>
            <a:ext uri="{53640926-AAD7-44D8-BBD7-CCE9431645EC}">
              <a14:shadowObscured xmlns:a14="http://schemas.microsoft.com/office/drawing/2010/main"/>
            </a:ext>
          </a:extLst>
        </p:spPr>
      </p:pic>
      <p:pic>
        <p:nvPicPr>
          <p:cNvPr id="46" name="Picture 45">
            <a:extLst>
              <a:ext uri="{FF2B5EF4-FFF2-40B4-BE49-F238E27FC236}">
                <a16:creationId xmlns:a16="http://schemas.microsoft.com/office/drawing/2014/main" id="{F6C8F33E-9686-99BF-B091-53CDB444059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24356"/>
          <a:stretch>
            <a:fillRect/>
          </a:stretch>
        </p:blipFill>
        <p:spPr bwMode="auto">
          <a:xfrm>
            <a:off x="7208850" y="2086953"/>
            <a:ext cx="1564526" cy="1572361"/>
          </a:xfrm>
          <a:prstGeom prst="rect">
            <a:avLst/>
          </a:prstGeom>
          <a:noFill/>
          <a:ln>
            <a:solidFill>
              <a:schemeClr val="tx1"/>
            </a:solidFill>
          </a:ln>
          <a:extLst>
            <a:ext uri="{53640926-AAD7-44D8-BBD7-CCE9431645EC}">
              <a14:shadowObscured xmlns:a14="http://schemas.microsoft.com/office/drawing/2010/main"/>
            </a:ext>
          </a:extLst>
        </p:spPr>
      </p:pic>
      <p:pic>
        <p:nvPicPr>
          <p:cNvPr id="47" name="Picture 46">
            <a:extLst>
              <a:ext uri="{FF2B5EF4-FFF2-40B4-BE49-F238E27FC236}">
                <a16:creationId xmlns:a16="http://schemas.microsoft.com/office/drawing/2014/main" id="{8921A32D-7C6B-F0BD-CF3B-178CE372453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22549"/>
          <a:stretch>
            <a:fillRect/>
          </a:stretch>
        </p:blipFill>
        <p:spPr bwMode="auto">
          <a:xfrm>
            <a:off x="236862" y="2124737"/>
            <a:ext cx="1564526" cy="1512541"/>
          </a:xfrm>
          <a:prstGeom prst="rect">
            <a:avLst/>
          </a:prstGeom>
          <a:noFill/>
          <a:ln>
            <a:solidFill>
              <a:schemeClr val="tx1"/>
            </a:solidFill>
          </a:ln>
          <a:extLst>
            <a:ext uri="{53640926-AAD7-44D8-BBD7-CCE9431645EC}">
              <a14:shadowObscured xmlns:a14="http://schemas.microsoft.com/office/drawing/2010/main"/>
            </a:ext>
          </a:extLst>
        </p:spPr>
      </p:pic>
      <p:graphicFrame>
        <p:nvGraphicFramePr>
          <p:cNvPr id="48" name="Table 47">
            <a:extLst>
              <a:ext uri="{FF2B5EF4-FFF2-40B4-BE49-F238E27FC236}">
                <a16:creationId xmlns:a16="http://schemas.microsoft.com/office/drawing/2014/main" id="{C4189EF4-E48B-83A9-9CBF-D8F85C3E7256}"/>
              </a:ext>
            </a:extLst>
          </p:cNvPr>
          <p:cNvGraphicFramePr>
            <a:graphicFrameLocks noGrp="1"/>
          </p:cNvGraphicFramePr>
          <p:nvPr>
            <p:extLst>
              <p:ext uri="{D42A27DB-BD31-4B8C-83A1-F6EECF244321}">
                <p14:modId xmlns:p14="http://schemas.microsoft.com/office/powerpoint/2010/main" val="2660485271"/>
              </p:ext>
            </p:extLst>
          </p:nvPr>
        </p:nvGraphicFramePr>
        <p:xfrm>
          <a:off x="304800" y="3952240"/>
          <a:ext cx="8468576" cy="2111078"/>
        </p:xfrm>
        <a:graphic>
          <a:graphicData uri="http://schemas.openxmlformats.org/drawingml/2006/table">
            <a:tbl>
              <a:tblPr firstRow="1" firstCol="1" bandRow="1">
                <a:tableStyleId>{5C22544A-7EE6-4342-B048-85BDC9FD1C3A}</a:tableStyleId>
              </a:tblPr>
              <a:tblGrid>
                <a:gridCol w="1611293">
                  <a:extLst>
                    <a:ext uri="{9D8B030D-6E8A-4147-A177-3AD203B41FA5}">
                      <a16:colId xmlns:a16="http://schemas.microsoft.com/office/drawing/2014/main" val="142031163"/>
                    </a:ext>
                  </a:extLst>
                </a:gridCol>
                <a:gridCol w="1342292">
                  <a:extLst>
                    <a:ext uri="{9D8B030D-6E8A-4147-A177-3AD203B41FA5}">
                      <a16:colId xmlns:a16="http://schemas.microsoft.com/office/drawing/2014/main" val="4113084664"/>
                    </a:ext>
                  </a:extLst>
                </a:gridCol>
                <a:gridCol w="1365841">
                  <a:extLst>
                    <a:ext uri="{9D8B030D-6E8A-4147-A177-3AD203B41FA5}">
                      <a16:colId xmlns:a16="http://schemas.microsoft.com/office/drawing/2014/main" val="3247929559"/>
                    </a:ext>
                  </a:extLst>
                </a:gridCol>
                <a:gridCol w="1391201">
                  <a:extLst>
                    <a:ext uri="{9D8B030D-6E8A-4147-A177-3AD203B41FA5}">
                      <a16:colId xmlns:a16="http://schemas.microsoft.com/office/drawing/2014/main" val="359593911"/>
                    </a:ext>
                  </a:extLst>
                </a:gridCol>
                <a:gridCol w="1365841">
                  <a:extLst>
                    <a:ext uri="{9D8B030D-6E8A-4147-A177-3AD203B41FA5}">
                      <a16:colId xmlns:a16="http://schemas.microsoft.com/office/drawing/2014/main" val="1703689073"/>
                    </a:ext>
                  </a:extLst>
                </a:gridCol>
                <a:gridCol w="1392108">
                  <a:extLst>
                    <a:ext uri="{9D8B030D-6E8A-4147-A177-3AD203B41FA5}">
                      <a16:colId xmlns:a16="http://schemas.microsoft.com/office/drawing/2014/main" val="3362722057"/>
                    </a:ext>
                  </a:extLst>
                </a:gridCol>
              </a:tblGrid>
              <a:tr h="602428">
                <a:tc>
                  <a:txBody>
                    <a:bodyPr/>
                    <a:lstStyle/>
                    <a:p>
                      <a:pPr>
                        <a:lnSpc>
                          <a:spcPct val="115000"/>
                        </a:lnSpc>
                        <a:spcAft>
                          <a:spcPts val="800"/>
                        </a:spcAft>
                        <a:buNone/>
                      </a:pPr>
                      <a:r>
                        <a:rPr lang="en-IN" sz="1100" kern="100">
                          <a:effectLst/>
                        </a:rPr>
                        <a:t>Attenuation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Range (Km)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Max. Q factor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Min. BER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Eye Height (m)</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dirty="0">
                          <a:effectLst/>
                          <a:latin typeface="Times New Roman" panose="02020603050405020304" pitchFamily="18" charset="0"/>
                          <a:ea typeface="Calibri" panose="020F0502020204030204" pitchFamily="34" charset="0"/>
                          <a:cs typeface="Mangal" panose="02040503050203030202" pitchFamily="18" charset="0"/>
                        </a:rPr>
                        <a:t>Received Power (dBm)</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548630864"/>
                  </a:ext>
                </a:extLst>
              </a:tr>
              <a:tr h="292269">
                <a:tc>
                  <a:txBody>
                    <a:bodyPr/>
                    <a:lstStyle/>
                    <a:p>
                      <a:pPr>
                        <a:lnSpc>
                          <a:spcPct val="115000"/>
                        </a:lnSpc>
                        <a:spcAft>
                          <a:spcPts val="800"/>
                        </a:spcAft>
                        <a:buNone/>
                      </a:pPr>
                      <a:r>
                        <a:rPr lang="en-IN" sz="1100" kern="100" dirty="0">
                          <a:effectLst/>
                        </a:rPr>
                        <a:t>3 dB/Km</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553.286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0.11758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22</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430517464"/>
                  </a:ext>
                </a:extLst>
              </a:tr>
              <a:tr h="292269">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90.97</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0.0642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16</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056627704"/>
                  </a:ext>
                </a:extLst>
              </a:tr>
              <a:tr h="339574">
                <a:tc>
                  <a:txBody>
                    <a:bodyPr/>
                    <a:lstStyle/>
                    <a:p>
                      <a:pPr>
                        <a:lnSpc>
                          <a:spcPct val="115000"/>
                        </a:lnSpc>
                        <a:spcAft>
                          <a:spcPts val="800"/>
                        </a:spcAft>
                        <a:buNone/>
                      </a:pPr>
                      <a:r>
                        <a:rPr lang="en-IN" sz="1100" kern="100" dirty="0">
                          <a:effectLst/>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23.53</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6.64142e-123</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0.01085</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10</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12091491"/>
                  </a:ext>
                </a:extLst>
              </a:tr>
              <a:tr h="292269">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3.642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0.000121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0.00011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519079216"/>
                  </a:ext>
                </a:extLst>
              </a:tr>
              <a:tr h="292269">
                <a:tc>
                  <a:txBody>
                    <a:bodyPr/>
                    <a:lstStyle/>
                    <a:p>
                      <a:pPr>
                        <a:lnSpc>
                          <a:spcPct val="115000"/>
                        </a:lnSpc>
                        <a:spcAft>
                          <a:spcPts val="800"/>
                        </a:spcAft>
                        <a:buNone/>
                      </a:pPr>
                      <a:r>
                        <a:rPr lang="en-IN" sz="1100" kern="100" dirty="0">
                          <a:effectLst/>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dirty="0">
                          <a:effectLst/>
                          <a:latin typeface="Times New Roman" panose="02020603050405020304" pitchFamily="18" charset="0"/>
                          <a:ea typeface="Calibri" panose="020F0502020204030204" pitchFamily="34" charset="0"/>
                          <a:cs typeface="Mangal" panose="02040503050203030202" pitchFamily="18" charset="0"/>
                        </a:rPr>
                        <a:t>-5</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713669298"/>
                  </a:ext>
                </a:extLst>
              </a:tr>
            </a:tbl>
          </a:graphicData>
        </a:graphic>
      </p:graphicFrame>
    </p:spTree>
    <p:extLst>
      <p:ext uri="{BB962C8B-B14F-4D97-AF65-F5344CB8AC3E}">
        <p14:creationId xmlns:p14="http://schemas.microsoft.com/office/powerpoint/2010/main" val="250502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B6912-D0EC-23D4-FDFF-8929B7DBCC2A}"/>
              </a:ext>
            </a:extLst>
          </p:cNvPr>
          <p:cNvSpPr>
            <a:spLocks noGrp="1"/>
          </p:cNvSpPr>
          <p:nvPr>
            <p:ph type="title"/>
          </p:nvPr>
        </p:nvSpPr>
        <p:spPr>
          <a:xfrm>
            <a:off x="1762251" y="449025"/>
            <a:ext cx="6589199" cy="1014353"/>
          </a:xfrm>
        </p:spPr>
        <p:txBody>
          <a:bodyPr>
            <a:normAutofit fontScale="90000"/>
          </a:bodyPr>
          <a:lstStyle/>
          <a:p>
            <a:r>
              <a:rPr lang="en-IN" b="1" dirty="0">
                <a:latin typeface="Comic Sans MS" panose="030F0702030302020204" pitchFamily="66" charset="0"/>
              </a:rPr>
              <a:t>Circuit Diagram on </a:t>
            </a:r>
            <a:r>
              <a:rPr lang="en-IN" b="1" dirty="0" err="1">
                <a:latin typeface="Comic Sans MS" panose="030F0702030302020204" pitchFamily="66" charset="0"/>
              </a:rPr>
              <a:t>OptiSystem</a:t>
            </a:r>
            <a:r>
              <a:rPr lang="en-IN" b="1" dirty="0">
                <a:latin typeface="Comic Sans MS" panose="030F0702030302020204" pitchFamily="66" charset="0"/>
              </a:rPr>
              <a:t> </a:t>
            </a:r>
            <a:r>
              <a:rPr lang="en-IN" b="1" dirty="0"/>
              <a:t> </a:t>
            </a:r>
          </a:p>
        </p:txBody>
      </p:sp>
      <p:sp>
        <p:nvSpPr>
          <p:cNvPr id="3" name="Date Placeholder 2">
            <a:extLst>
              <a:ext uri="{FF2B5EF4-FFF2-40B4-BE49-F238E27FC236}">
                <a16:creationId xmlns:a16="http://schemas.microsoft.com/office/drawing/2014/main" id="{54199510-44D7-D387-2B28-8FCFE9C938DB}"/>
              </a:ext>
            </a:extLst>
          </p:cNvPr>
          <p:cNvSpPr>
            <a:spLocks noGrp="1"/>
          </p:cNvSpPr>
          <p:nvPr>
            <p:ph type="dt" sz="half" idx="10"/>
          </p:nvPr>
        </p:nvSpPr>
        <p:spPr>
          <a:xfrm>
            <a:off x="7779448" y="6302928"/>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A98F05CD-82DE-A33C-A940-8D4058EA26AC}"/>
              </a:ext>
            </a:extLst>
          </p:cNvPr>
          <p:cNvSpPr>
            <a:spLocks noGrp="1"/>
          </p:cNvSpPr>
          <p:nvPr>
            <p:ph type="ftr" sz="quarter" idx="11"/>
          </p:nvPr>
        </p:nvSpPr>
        <p:spPr>
          <a:xfrm>
            <a:off x="981362" y="6320174"/>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1137C4BB-E3EE-2B99-979F-CBA92864881F}"/>
              </a:ext>
            </a:extLst>
          </p:cNvPr>
          <p:cNvSpPr>
            <a:spLocks noGrp="1"/>
          </p:cNvSpPr>
          <p:nvPr>
            <p:ph type="sldNum" sz="quarter" idx="12"/>
          </p:nvPr>
        </p:nvSpPr>
        <p:spPr/>
        <p:txBody>
          <a:bodyPr/>
          <a:lstStyle/>
          <a:p>
            <a:fld id="{6F42FDE4-A7DD-41A7-A0A6-9B649FB43336}" type="slidenum">
              <a:rPr lang="en-US" smtClean="0"/>
              <a:pPr/>
              <a:t>16</a:t>
            </a:fld>
            <a:endParaRPr lang="en-US" dirty="0"/>
          </a:p>
        </p:txBody>
      </p:sp>
      <p:sp>
        <p:nvSpPr>
          <p:cNvPr id="11" name="AutoShape 2">
            <a:extLst>
              <a:ext uri="{FF2B5EF4-FFF2-40B4-BE49-F238E27FC236}">
                <a16:creationId xmlns:a16="http://schemas.microsoft.com/office/drawing/2014/main" id="{78CA6CF2-3A22-E12F-C336-A742D7F72E6B}"/>
              </a:ext>
            </a:extLst>
          </p:cNvPr>
          <p:cNvSpPr>
            <a:spLocks noChangeAspect="1" noChangeArrowheads="1"/>
          </p:cNvSpPr>
          <p:nvPr/>
        </p:nvSpPr>
        <p:spPr bwMode="auto">
          <a:xfrm>
            <a:off x="2926702" y="215692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AutoShape 4">
            <a:extLst>
              <a:ext uri="{FF2B5EF4-FFF2-40B4-BE49-F238E27FC236}">
                <a16:creationId xmlns:a16="http://schemas.microsoft.com/office/drawing/2014/main" id="{DF9E4020-2826-840E-09D9-DDF3B907CEB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3" name="TextBox 12">
            <a:extLst>
              <a:ext uri="{FF2B5EF4-FFF2-40B4-BE49-F238E27FC236}">
                <a16:creationId xmlns:a16="http://schemas.microsoft.com/office/drawing/2014/main" id="{2D63F99B-C0F4-3A11-BF76-552DC8DCD5AE}"/>
              </a:ext>
            </a:extLst>
          </p:cNvPr>
          <p:cNvSpPr txBox="1"/>
          <p:nvPr/>
        </p:nvSpPr>
        <p:spPr>
          <a:xfrm>
            <a:off x="2850313" y="5360219"/>
            <a:ext cx="3748173" cy="369332"/>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Circuit diagram of Fiber Optic system</a:t>
            </a:r>
          </a:p>
        </p:txBody>
      </p:sp>
      <p:pic>
        <p:nvPicPr>
          <p:cNvPr id="6" name="Picture 5">
            <a:extLst>
              <a:ext uri="{FF2B5EF4-FFF2-40B4-BE49-F238E27FC236}">
                <a16:creationId xmlns:a16="http://schemas.microsoft.com/office/drawing/2014/main" id="{8EFE88BA-4699-2E29-C1A4-7D1A7CC9EDA3}"/>
              </a:ext>
            </a:extLst>
          </p:cNvPr>
          <p:cNvPicPr>
            <a:picLocks noChangeAspect="1"/>
          </p:cNvPicPr>
          <p:nvPr/>
        </p:nvPicPr>
        <p:blipFill rotWithShape="1">
          <a:blip r:embed="rId2">
            <a:extLst>
              <a:ext uri="{28A0092B-C50C-407E-A947-70E740481C1C}">
                <a14:useLocalDpi xmlns:a14="http://schemas.microsoft.com/office/drawing/2010/main" val="0"/>
              </a:ext>
            </a:extLst>
          </a:blip>
          <a:srcRect l="4552" r="7500" b="9669"/>
          <a:stretch>
            <a:fillRect/>
          </a:stretch>
        </p:blipFill>
        <p:spPr bwMode="auto">
          <a:xfrm>
            <a:off x="223957" y="1701825"/>
            <a:ext cx="8696085" cy="3454349"/>
          </a:xfrm>
          <a:prstGeom prst="rect">
            <a:avLst/>
          </a:prstGeom>
          <a:noFill/>
          <a:ln w="28575" cap="flat" cmpd="sng" algn="ctr">
            <a:solidFill>
              <a:schemeClr val="tx1"/>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03696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F2EA0-9DFE-CB49-B0AC-29963026D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03E6C-4632-FC77-5756-1E8BD10E2161}"/>
              </a:ext>
            </a:extLst>
          </p:cNvPr>
          <p:cNvSpPr>
            <a:spLocks noGrp="1"/>
          </p:cNvSpPr>
          <p:nvPr>
            <p:ph type="title"/>
          </p:nvPr>
        </p:nvSpPr>
        <p:spPr>
          <a:xfrm>
            <a:off x="1716833" y="223935"/>
            <a:ext cx="7138409" cy="1681065"/>
          </a:xfrm>
        </p:spPr>
        <p:txBody>
          <a:bodyPr>
            <a:normAutofit/>
          </a:bodyPr>
          <a:lstStyle/>
          <a:p>
            <a:r>
              <a:rPr lang="en-IN" sz="3200" b="1" dirty="0">
                <a:latin typeface="Comic Sans MS" panose="030F0702030302020204" pitchFamily="66" charset="0"/>
              </a:rPr>
              <a:t>Simulation Result on OptiSystem :</a:t>
            </a:r>
          </a:p>
        </p:txBody>
      </p:sp>
      <p:sp>
        <p:nvSpPr>
          <p:cNvPr id="3" name="Date Placeholder 2">
            <a:extLst>
              <a:ext uri="{FF2B5EF4-FFF2-40B4-BE49-F238E27FC236}">
                <a16:creationId xmlns:a16="http://schemas.microsoft.com/office/drawing/2014/main" id="{5AF70E5A-2529-CB97-462F-7F5970479957}"/>
              </a:ext>
            </a:extLst>
          </p:cNvPr>
          <p:cNvSpPr>
            <a:spLocks noGrp="1"/>
          </p:cNvSpPr>
          <p:nvPr>
            <p:ph type="dt" sz="half" idx="10"/>
          </p:nvPr>
        </p:nvSpPr>
        <p:spPr>
          <a:xfrm>
            <a:off x="7791061" y="6357491"/>
            <a:ext cx="869017" cy="185086"/>
          </a:xfrm>
        </p:spPr>
        <p:txBody>
          <a:bodyPr/>
          <a:lstStyle/>
          <a:p>
            <a:r>
              <a:rPr lang="en-US" dirty="0"/>
              <a:t>2025-2026</a:t>
            </a:r>
          </a:p>
        </p:txBody>
      </p:sp>
      <p:sp>
        <p:nvSpPr>
          <p:cNvPr id="4" name="Footer Placeholder 3">
            <a:extLst>
              <a:ext uri="{FF2B5EF4-FFF2-40B4-BE49-F238E27FC236}">
                <a16:creationId xmlns:a16="http://schemas.microsoft.com/office/drawing/2014/main" id="{CCE80339-132B-0AC3-47D5-D3346A6D5836}"/>
              </a:ext>
            </a:extLst>
          </p:cNvPr>
          <p:cNvSpPr>
            <a:spLocks noGrp="1"/>
          </p:cNvSpPr>
          <p:nvPr>
            <p:ph type="ftr" sz="quarter" idx="11"/>
          </p:nvPr>
        </p:nvSpPr>
        <p:spPr>
          <a:xfrm>
            <a:off x="605220" y="6320174"/>
            <a:ext cx="6436593"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06669ECD-1E4F-098E-B334-FD435C0C413D}"/>
              </a:ext>
            </a:extLst>
          </p:cNvPr>
          <p:cNvSpPr>
            <a:spLocks noGrp="1"/>
          </p:cNvSpPr>
          <p:nvPr>
            <p:ph type="sldNum" sz="quarter" idx="12"/>
          </p:nvPr>
        </p:nvSpPr>
        <p:spPr/>
        <p:txBody>
          <a:bodyPr/>
          <a:lstStyle/>
          <a:p>
            <a:fld id="{6F42FDE4-A7DD-41A7-A0A6-9B649FB43336}" type="slidenum">
              <a:rPr lang="en-US" smtClean="0"/>
              <a:pPr/>
              <a:t>17</a:t>
            </a:fld>
            <a:endParaRPr lang="en-US" dirty="0"/>
          </a:p>
        </p:txBody>
      </p:sp>
      <p:sp>
        <p:nvSpPr>
          <p:cNvPr id="12" name="Rectangle 1">
            <a:extLst>
              <a:ext uri="{FF2B5EF4-FFF2-40B4-BE49-F238E27FC236}">
                <a16:creationId xmlns:a16="http://schemas.microsoft.com/office/drawing/2014/main" id="{CDE1F10C-E319-BFBC-02A8-BB61663870D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2">
            <a:extLst>
              <a:ext uri="{FF2B5EF4-FFF2-40B4-BE49-F238E27FC236}">
                <a16:creationId xmlns:a16="http://schemas.microsoft.com/office/drawing/2014/main" id="{8A3E5D56-FD29-6C5C-9A3D-F49219B34130}"/>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46C4AF5D-0066-2AC2-4F86-B4690996F126}"/>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TextBox 10">
            <a:extLst>
              <a:ext uri="{FF2B5EF4-FFF2-40B4-BE49-F238E27FC236}">
                <a16:creationId xmlns:a16="http://schemas.microsoft.com/office/drawing/2014/main" id="{58AAE385-2F35-C3B7-5AE6-00BC6AA15DD2}"/>
              </a:ext>
            </a:extLst>
          </p:cNvPr>
          <p:cNvSpPr txBox="1"/>
          <p:nvPr/>
        </p:nvSpPr>
        <p:spPr>
          <a:xfrm>
            <a:off x="2629187" y="1400527"/>
            <a:ext cx="3885626"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Optical fibre channel Results</a:t>
            </a:r>
          </a:p>
        </p:txBody>
      </p:sp>
      <p:sp>
        <p:nvSpPr>
          <p:cNvPr id="17" name="TextBox 16">
            <a:extLst>
              <a:ext uri="{FF2B5EF4-FFF2-40B4-BE49-F238E27FC236}">
                <a16:creationId xmlns:a16="http://schemas.microsoft.com/office/drawing/2014/main" id="{02E7F4B5-8A68-6419-5A4A-7F814FAC8959}"/>
              </a:ext>
            </a:extLst>
          </p:cNvPr>
          <p:cNvSpPr txBox="1"/>
          <p:nvPr/>
        </p:nvSpPr>
        <p:spPr>
          <a:xfrm>
            <a:off x="634046" y="5636349"/>
            <a:ext cx="3071492" cy="307777"/>
          </a:xfrm>
          <a:prstGeom prst="rect">
            <a:avLst/>
          </a:prstGeom>
          <a:solidFill>
            <a:schemeClr val="bg1"/>
          </a:solidFill>
        </p:spPr>
        <p:txBody>
          <a:bodyPr wrap="square" rtlCol="0">
            <a:spAutoFit/>
          </a:bodyPr>
          <a:lstStyle/>
          <a:p>
            <a:r>
              <a:rPr lang="en-IN" sz="1400" b="1" dirty="0"/>
              <a:t>Optical fibre channel spectrum</a:t>
            </a:r>
          </a:p>
        </p:txBody>
      </p:sp>
      <p:sp>
        <p:nvSpPr>
          <p:cNvPr id="19" name="TextBox 18">
            <a:extLst>
              <a:ext uri="{FF2B5EF4-FFF2-40B4-BE49-F238E27FC236}">
                <a16:creationId xmlns:a16="http://schemas.microsoft.com/office/drawing/2014/main" id="{920F9110-59C7-C01E-6FFB-6E9FCD0080E8}"/>
              </a:ext>
            </a:extLst>
          </p:cNvPr>
          <p:cNvSpPr txBox="1"/>
          <p:nvPr/>
        </p:nvSpPr>
        <p:spPr>
          <a:xfrm>
            <a:off x="6044133" y="5650806"/>
            <a:ext cx="1300187" cy="307777"/>
          </a:xfrm>
          <a:prstGeom prst="rect">
            <a:avLst/>
          </a:prstGeom>
          <a:solidFill>
            <a:schemeClr val="bg1"/>
          </a:solidFill>
        </p:spPr>
        <p:txBody>
          <a:bodyPr wrap="square" rtlCol="0">
            <a:spAutoFit/>
          </a:bodyPr>
          <a:lstStyle/>
          <a:p>
            <a:r>
              <a:rPr lang="en-IN" sz="1400" b="1" dirty="0"/>
              <a:t>EYE diagram</a:t>
            </a:r>
          </a:p>
        </p:txBody>
      </p:sp>
      <p:pic>
        <p:nvPicPr>
          <p:cNvPr id="7" name="Picture 6">
            <a:extLst>
              <a:ext uri="{FF2B5EF4-FFF2-40B4-BE49-F238E27FC236}">
                <a16:creationId xmlns:a16="http://schemas.microsoft.com/office/drawing/2014/main" id="{5B743E15-3AB4-8EEA-5A48-4C84D1123C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6854" y="2070992"/>
            <a:ext cx="4594746" cy="3488684"/>
          </a:xfrm>
          <a:prstGeom prst="rect">
            <a:avLst/>
          </a:prstGeom>
          <a:ln>
            <a:solidFill>
              <a:schemeClr val="tx1"/>
            </a:solidFill>
          </a:ln>
        </p:spPr>
      </p:pic>
      <p:pic>
        <p:nvPicPr>
          <p:cNvPr id="10" name="Picture 9">
            <a:extLst>
              <a:ext uri="{FF2B5EF4-FFF2-40B4-BE49-F238E27FC236}">
                <a16:creationId xmlns:a16="http://schemas.microsoft.com/office/drawing/2014/main" id="{928B551D-7DA1-8E7C-6658-79E43BA258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070992"/>
            <a:ext cx="4034784" cy="3505490"/>
          </a:xfrm>
          <a:prstGeom prst="rect">
            <a:avLst/>
          </a:prstGeom>
          <a:ln>
            <a:solidFill>
              <a:schemeClr val="tx1"/>
            </a:solidFill>
          </a:ln>
        </p:spPr>
      </p:pic>
    </p:spTree>
    <p:extLst>
      <p:ext uri="{BB962C8B-B14F-4D97-AF65-F5344CB8AC3E}">
        <p14:creationId xmlns:p14="http://schemas.microsoft.com/office/powerpoint/2010/main" val="3554752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1083-8F27-3EDB-2A19-7C1D4E9BD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E261B-6904-0454-B041-A3F22122EC6F}"/>
              </a:ext>
            </a:extLst>
          </p:cNvPr>
          <p:cNvSpPr>
            <a:spLocks noGrp="1"/>
          </p:cNvSpPr>
          <p:nvPr>
            <p:ph type="title"/>
          </p:nvPr>
        </p:nvSpPr>
        <p:spPr>
          <a:xfrm>
            <a:off x="1716833" y="223935"/>
            <a:ext cx="7138409" cy="1681065"/>
          </a:xfrm>
        </p:spPr>
        <p:txBody>
          <a:bodyPr>
            <a:normAutofit/>
          </a:bodyPr>
          <a:lstStyle/>
          <a:p>
            <a:r>
              <a:rPr lang="en-IN" sz="3200" b="1" dirty="0">
                <a:latin typeface="Comic Sans MS" panose="030F0702030302020204" pitchFamily="66" charset="0"/>
              </a:rPr>
              <a:t>Simulation Result on OptiSystem :</a:t>
            </a:r>
          </a:p>
        </p:txBody>
      </p:sp>
      <p:sp>
        <p:nvSpPr>
          <p:cNvPr id="3" name="Date Placeholder 2">
            <a:extLst>
              <a:ext uri="{FF2B5EF4-FFF2-40B4-BE49-F238E27FC236}">
                <a16:creationId xmlns:a16="http://schemas.microsoft.com/office/drawing/2014/main" id="{6B4DCE46-EA41-8E4A-583D-1C736C6420FC}"/>
              </a:ext>
            </a:extLst>
          </p:cNvPr>
          <p:cNvSpPr>
            <a:spLocks noGrp="1"/>
          </p:cNvSpPr>
          <p:nvPr>
            <p:ph type="dt" sz="half" idx="10"/>
          </p:nvPr>
        </p:nvSpPr>
        <p:spPr>
          <a:xfrm>
            <a:off x="7791061" y="6357491"/>
            <a:ext cx="869017" cy="185086"/>
          </a:xfrm>
        </p:spPr>
        <p:txBody>
          <a:bodyPr/>
          <a:lstStyle/>
          <a:p>
            <a:r>
              <a:rPr lang="en-US" dirty="0"/>
              <a:t>2025-2026</a:t>
            </a:r>
          </a:p>
        </p:txBody>
      </p:sp>
      <p:sp>
        <p:nvSpPr>
          <p:cNvPr id="4" name="Footer Placeholder 3">
            <a:extLst>
              <a:ext uri="{FF2B5EF4-FFF2-40B4-BE49-F238E27FC236}">
                <a16:creationId xmlns:a16="http://schemas.microsoft.com/office/drawing/2014/main" id="{C6475313-082D-2842-D5C7-59D3C261CBAE}"/>
              </a:ext>
            </a:extLst>
          </p:cNvPr>
          <p:cNvSpPr>
            <a:spLocks noGrp="1"/>
          </p:cNvSpPr>
          <p:nvPr>
            <p:ph type="ftr" sz="quarter" idx="11"/>
          </p:nvPr>
        </p:nvSpPr>
        <p:spPr>
          <a:xfrm>
            <a:off x="605220" y="6320174"/>
            <a:ext cx="6436593"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992723C6-6717-4708-CB69-7FB3B4FAB1FE}"/>
              </a:ext>
            </a:extLst>
          </p:cNvPr>
          <p:cNvSpPr>
            <a:spLocks noGrp="1"/>
          </p:cNvSpPr>
          <p:nvPr>
            <p:ph type="sldNum" sz="quarter" idx="12"/>
          </p:nvPr>
        </p:nvSpPr>
        <p:spPr/>
        <p:txBody>
          <a:bodyPr/>
          <a:lstStyle/>
          <a:p>
            <a:fld id="{6F42FDE4-A7DD-41A7-A0A6-9B649FB43336}" type="slidenum">
              <a:rPr lang="en-US" smtClean="0"/>
              <a:pPr/>
              <a:t>18</a:t>
            </a:fld>
            <a:endParaRPr lang="en-US" dirty="0"/>
          </a:p>
        </p:txBody>
      </p:sp>
      <p:sp>
        <p:nvSpPr>
          <p:cNvPr id="12" name="Rectangle 1">
            <a:extLst>
              <a:ext uri="{FF2B5EF4-FFF2-40B4-BE49-F238E27FC236}">
                <a16:creationId xmlns:a16="http://schemas.microsoft.com/office/drawing/2014/main" id="{B68A58CE-EB7B-5C46-FDD6-53FA33FDB01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2">
            <a:extLst>
              <a:ext uri="{FF2B5EF4-FFF2-40B4-BE49-F238E27FC236}">
                <a16:creationId xmlns:a16="http://schemas.microsoft.com/office/drawing/2014/main" id="{CFBFBDDC-65E3-7C57-8934-0184493B883C}"/>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588660AD-4ADB-E7FB-854B-E5B107CEBBA3}"/>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TextBox 10">
            <a:extLst>
              <a:ext uri="{FF2B5EF4-FFF2-40B4-BE49-F238E27FC236}">
                <a16:creationId xmlns:a16="http://schemas.microsoft.com/office/drawing/2014/main" id="{770649E5-3D53-AF47-24F6-2E9001E43AD9}"/>
              </a:ext>
            </a:extLst>
          </p:cNvPr>
          <p:cNvSpPr txBox="1"/>
          <p:nvPr/>
        </p:nvSpPr>
        <p:spPr>
          <a:xfrm>
            <a:off x="2759597" y="1462006"/>
            <a:ext cx="3929605"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 Fiber optical channel Results </a:t>
            </a:r>
          </a:p>
        </p:txBody>
      </p:sp>
      <p:pic>
        <p:nvPicPr>
          <p:cNvPr id="6" name="Picture 5">
            <a:extLst>
              <a:ext uri="{FF2B5EF4-FFF2-40B4-BE49-F238E27FC236}">
                <a16:creationId xmlns:a16="http://schemas.microsoft.com/office/drawing/2014/main" id="{600AB2AE-540A-EA98-4CC0-E9811A2B9D8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4102"/>
          <a:stretch>
            <a:fillRect/>
          </a:stretch>
        </p:blipFill>
        <p:spPr bwMode="auto">
          <a:xfrm>
            <a:off x="80519" y="1979922"/>
            <a:ext cx="1689117" cy="1710033"/>
          </a:xfrm>
          <a:prstGeom prst="rect">
            <a:avLst/>
          </a:prstGeom>
          <a:noFill/>
          <a:ln>
            <a:solidFill>
              <a:schemeClr val="tx1"/>
            </a:solid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C5677121-EC7F-5823-550F-30E33DE23E5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4231"/>
          <a:stretch>
            <a:fillRect/>
          </a:stretch>
        </p:blipFill>
        <p:spPr bwMode="auto">
          <a:xfrm>
            <a:off x="1911706" y="2008890"/>
            <a:ext cx="1695782" cy="1681065"/>
          </a:xfrm>
          <a:prstGeom prst="rect">
            <a:avLst/>
          </a:prstGeom>
          <a:noFill/>
          <a:ln>
            <a:solidFill>
              <a:schemeClr val="tx1"/>
            </a:solid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D6EFEB30-C6F7-0B53-F163-AE3AAB7DFF3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24616"/>
          <a:stretch>
            <a:fillRect/>
          </a:stretch>
        </p:blipFill>
        <p:spPr bwMode="auto">
          <a:xfrm>
            <a:off x="3736297" y="2016958"/>
            <a:ext cx="1689117" cy="1686497"/>
          </a:xfrm>
          <a:prstGeom prst="rect">
            <a:avLst/>
          </a:prstGeom>
          <a:noFill/>
          <a:ln>
            <a:solidFill>
              <a:schemeClr val="tx1"/>
            </a:solid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B5220291-4280-CD0B-F659-7D7E77799A2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23974"/>
          <a:stretch>
            <a:fillRect/>
          </a:stretch>
        </p:blipFill>
        <p:spPr bwMode="auto">
          <a:xfrm>
            <a:off x="5554223" y="2022391"/>
            <a:ext cx="1690320" cy="1681064"/>
          </a:xfrm>
          <a:prstGeom prst="rect">
            <a:avLst/>
          </a:prstGeom>
          <a:noFill/>
          <a:ln>
            <a:solidFill>
              <a:schemeClr val="tx1"/>
            </a:solid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071CEE4F-88AB-2063-ECB2-FED28ED5A2C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23627"/>
          <a:stretch>
            <a:fillRect/>
          </a:stretch>
        </p:blipFill>
        <p:spPr bwMode="auto">
          <a:xfrm>
            <a:off x="7377580" y="2022389"/>
            <a:ext cx="1695978" cy="1681066"/>
          </a:xfrm>
          <a:prstGeom prst="rect">
            <a:avLst/>
          </a:prstGeom>
          <a:noFill/>
          <a:ln>
            <a:solidFill>
              <a:schemeClr val="tx1"/>
            </a:solidFill>
          </a:ln>
          <a:extLst>
            <a:ext uri="{53640926-AAD7-44D8-BBD7-CCE9431645EC}">
              <a14:shadowObscured xmlns:a14="http://schemas.microsoft.com/office/drawing/2010/main"/>
            </a:ext>
          </a:extLst>
        </p:spPr>
      </p:pic>
      <p:graphicFrame>
        <p:nvGraphicFramePr>
          <p:cNvPr id="15" name="Table 14">
            <a:extLst>
              <a:ext uri="{FF2B5EF4-FFF2-40B4-BE49-F238E27FC236}">
                <a16:creationId xmlns:a16="http://schemas.microsoft.com/office/drawing/2014/main" id="{4661D382-0E35-C637-D85E-37B833BBDC0A}"/>
              </a:ext>
            </a:extLst>
          </p:cNvPr>
          <p:cNvGraphicFramePr>
            <a:graphicFrameLocks noGrp="1"/>
          </p:cNvGraphicFramePr>
          <p:nvPr>
            <p:extLst>
              <p:ext uri="{D42A27DB-BD31-4B8C-83A1-F6EECF244321}">
                <p14:modId xmlns:p14="http://schemas.microsoft.com/office/powerpoint/2010/main" val="1084389840"/>
              </p:ext>
            </p:extLst>
          </p:nvPr>
        </p:nvGraphicFramePr>
        <p:xfrm>
          <a:off x="296779" y="4013201"/>
          <a:ext cx="8550442" cy="2103729"/>
        </p:xfrm>
        <a:graphic>
          <a:graphicData uri="http://schemas.openxmlformats.org/drawingml/2006/table">
            <a:tbl>
              <a:tblPr firstRow="1" firstCol="1" bandRow="1">
                <a:tableStyleId>{5C22544A-7EE6-4342-B048-85BDC9FD1C3A}</a:tableStyleId>
              </a:tblPr>
              <a:tblGrid>
                <a:gridCol w="1626870">
                  <a:extLst>
                    <a:ext uri="{9D8B030D-6E8A-4147-A177-3AD203B41FA5}">
                      <a16:colId xmlns:a16="http://schemas.microsoft.com/office/drawing/2014/main" val="3677599960"/>
                    </a:ext>
                  </a:extLst>
                </a:gridCol>
                <a:gridCol w="1355268">
                  <a:extLst>
                    <a:ext uri="{9D8B030D-6E8A-4147-A177-3AD203B41FA5}">
                      <a16:colId xmlns:a16="http://schemas.microsoft.com/office/drawing/2014/main" val="2185993730"/>
                    </a:ext>
                  </a:extLst>
                </a:gridCol>
                <a:gridCol w="1379044">
                  <a:extLst>
                    <a:ext uri="{9D8B030D-6E8A-4147-A177-3AD203B41FA5}">
                      <a16:colId xmlns:a16="http://schemas.microsoft.com/office/drawing/2014/main" val="1177907405"/>
                    </a:ext>
                  </a:extLst>
                </a:gridCol>
                <a:gridCol w="1404650">
                  <a:extLst>
                    <a:ext uri="{9D8B030D-6E8A-4147-A177-3AD203B41FA5}">
                      <a16:colId xmlns:a16="http://schemas.microsoft.com/office/drawing/2014/main" val="1011006188"/>
                    </a:ext>
                  </a:extLst>
                </a:gridCol>
                <a:gridCol w="1379044">
                  <a:extLst>
                    <a:ext uri="{9D8B030D-6E8A-4147-A177-3AD203B41FA5}">
                      <a16:colId xmlns:a16="http://schemas.microsoft.com/office/drawing/2014/main" val="1007797969"/>
                    </a:ext>
                  </a:extLst>
                </a:gridCol>
                <a:gridCol w="1405566">
                  <a:extLst>
                    <a:ext uri="{9D8B030D-6E8A-4147-A177-3AD203B41FA5}">
                      <a16:colId xmlns:a16="http://schemas.microsoft.com/office/drawing/2014/main" val="253040942"/>
                    </a:ext>
                  </a:extLst>
                </a:gridCol>
              </a:tblGrid>
              <a:tr h="594854">
                <a:tc>
                  <a:txBody>
                    <a:bodyPr/>
                    <a:lstStyle/>
                    <a:p>
                      <a:pPr>
                        <a:lnSpc>
                          <a:spcPct val="115000"/>
                        </a:lnSpc>
                        <a:spcAft>
                          <a:spcPts val="800"/>
                        </a:spcAft>
                        <a:buNone/>
                      </a:pPr>
                      <a:r>
                        <a:rPr lang="en-IN" sz="1100" kern="100">
                          <a:effectLst/>
                        </a:rPr>
                        <a:t>Attenuation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Range (Km)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Max. Q factor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Min. BER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Eye Height (m)</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dirty="0">
                          <a:effectLst/>
                          <a:latin typeface="Times New Roman" panose="02020603050405020304" pitchFamily="18" charset="0"/>
                          <a:ea typeface="Calibri" panose="020F0502020204030204" pitchFamily="34" charset="0"/>
                          <a:cs typeface="Mangal" panose="02040503050203030202" pitchFamily="18" charset="0"/>
                        </a:rPr>
                        <a:t>Received Power (dBm)</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492892751"/>
                  </a:ext>
                </a:extLst>
              </a:tr>
              <a:tr h="288595">
                <a:tc>
                  <a:txBody>
                    <a:bodyPr/>
                    <a:lstStyle/>
                    <a:p>
                      <a:pPr>
                        <a:lnSpc>
                          <a:spcPct val="115000"/>
                        </a:lnSpc>
                        <a:spcAft>
                          <a:spcPts val="800"/>
                        </a:spcAft>
                        <a:buNone/>
                      </a:pPr>
                      <a:r>
                        <a:rPr lang="en-IN" sz="1100" kern="100" dirty="0">
                          <a:effectLst/>
                        </a:rPr>
                        <a:t>0.2dB/Km</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271.43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0.40607</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24.6</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181508150"/>
                  </a:ext>
                </a:extLst>
              </a:tr>
              <a:tr h="288595">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5</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76.918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0.3653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24</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131061027"/>
                  </a:ext>
                </a:extLst>
              </a:tr>
              <a:tr h="354495">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dirty="0">
                          <a:effectLst/>
                        </a:rPr>
                        <a:t>37.5327</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1.15889e-308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0.30044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23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7714372"/>
                  </a:ext>
                </a:extLst>
              </a:tr>
              <a:tr h="288595">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20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17.37</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4.28374e-68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0.21808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a:effectLst/>
                          <a:latin typeface="Times New Roman" panose="02020603050405020304" pitchFamily="18" charset="0"/>
                          <a:ea typeface="Calibri" panose="020F0502020204030204" pitchFamily="34" charset="0"/>
                          <a:cs typeface="Mangal" panose="02040503050203030202" pitchFamily="18" charset="0"/>
                        </a:rPr>
                        <a:t>21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898967229"/>
                  </a:ext>
                </a:extLst>
              </a:tr>
              <a:tr h="288595">
                <a:tc>
                  <a:txBody>
                    <a:bodyPr/>
                    <a:lstStyle/>
                    <a:p>
                      <a:pPr>
                        <a:lnSpc>
                          <a:spcPct val="115000"/>
                        </a:lnSpc>
                        <a:spcAft>
                          <a:spcPts val="800"/>
                        </a:spcAft>
                        <a:buNone/>
                      </a:pPr>
                      <a:r>
                        <a:rPr lang="en-IN" sz="1100" kern="100">
                          <a:effectLst/>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30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5.63642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7.25109e-09</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100" kern="100">
                          <a:effectLst/>
                        </a:rPr>
                        <a:t>0.0935</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buNone/>
                      </a:pPr>
                      <a:r>
                        <a:rPr lang="en-IN" sz="1100" kern="100" dirty="0">
                          <a:effectLst/>
                          <a:latin typeface="Times New Roman" panose="02020603050405020304" pitchFamily="18" charset="0"/>
                          <a:ea typeface="Calibri" panose="020F0502020204030204" pitchFamily="34" charset="0"/>
                          <a:cs typeface="Mangal" panose="02040503050203030202" pitchFamily="18" charset="0"/>
                        </a:rPr>
                        <a:t>19</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394589791"/>
                  </a:ext>
                </a:extLst>
              </a:tr>
            </a:tbl>
          </a:graphicData>
        </a:graphic>
      </p:graphicFrame>
    </p:spTree>
    <p:extLst>
      <p:ext uri="{BB962C8B-B14F-4D97-AF65-F5344CB8AC3E}">
        <p14:creationId xmlns:p14="http://schemas.microsoft.com/office/powerpoint/2010/main" val="3910017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83A1-C9CF-7B56-E453-897A65057CF6}"/>
              </a:ext>
            </a:extLst>
          </p:cNvPr>
          <p:cNvSpPr>
            <a:spLocks noGrp="1"/>
          </p:cNvSpPr>
          <p:nvPr>
            <p:ph type="title"/>
          </p:nvPr>
        </p:nvSpPr>
        <p:spPr>
          <a:xfrm>
            <a:off x="1595535" y="233266"/>
            <a:ext cx="7109926" cy="832570"/>
          </a:xfrm>
        </p:spPr>
        <p:txBody>
          <a:bodyPr>
            <a:normAutofit/>
          </a:bodyPr>
          <a:lstStyle/>
          <a:p>
            <a:pPr algn="just"/>
            <a:r>
              <a:rPr lang="en-IN" sz="3200" b="1" dirty="0">
                <a:latin typeface="Comic Sans MS" panose="030F0702030302020204" pitchFamily="66" charset="0"/>
              </a:rPr>
              <a:t>Advantages &amp; Disadvantages</a:t>
            </a:r>
            <a:endParaRPr lang="en-GB" sz="3200" b="1"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E78736B0-B5AA-8967-B087-F8BAACEF196B}"/>
              </a:ext>
            </a:extLst>
          </p:cNvPr>
          <p:cNvSpPr>
            <a:spLocks noGrp="1"/>
          </p:cNvSpPr>
          <p:nvPr>
            <p:ph idx="1"/>
          </p:nvPr>
        </p:nvSpPr>
        <p:spPr>
          <a:xfrm>
            <a:off x="511228" y="1462638"/>
            <a:ext cx="8466517" cy="4908917"/>
          </a:xfrm>
        </p:spPr>
        <p:txBody>
          <a:bodyPr numCol="2">
            <a:normAutofit fontScale="92500" lnSpcReduction="10000"/>
          </a:bodyPr>
          <a:lstStyle/>
          <a:p>
            <a:pPr marL="0" indent="0">
              <a:buNone/>
            </a:pPr>
            <a:r>
              <a:rPr lang="en-US" sz="2000" b="1" dirty="0">
                <a:latin typeface="Times New Roman" panose="02020603050405020304" pitchFamily="18" charset="0"/>
                <a:cs typeface="Times New Roman" panose="02020603050405020304" pitchFamily="18" charset="0"/>
              </a:rPr>
              <a:t>Advantages</a:t>
            </a:r>
          </a:p>
          <a:p>
            <a:pPr marL="0" indent="0">
              <a:buNone/>
            </a:pPr>
            <a:r>
              <a:rPr lang="en-US" sz="2000" b="1" dirty="0">
                <a:latin typeface="Times New Roman" panose="02020603050405020304" pitchFamily="18" charset="0"/>
                <a:cs typeface="Times New Roman" panose="02020603050405020304" pitchFamily="18" charset="0"/>
              </a:rPr>
              <a:t> Optical Fiber</a:t>
            </a:r>
          </a:p>
          <a:p>
            <a:r>
              <a:rPr lang="en-US" sz="2000" dirty="0">
                <a:latin typeface="Times New Roman" panose="02020603050405020304" pitchFamily="18" charset="0"/>
                <a:cs typeface="Times New Roman" panose="02020603050405020304" pitchFamily="18" charset="0"/>
              </a:rPr>
              <a:t>Very high bandwidth and data rate </a:t>
            </a:r>
          </a:p>
          <a:p>
            <a:r>
              <a:rPr lang="en-US" sz="2000" dirty="0">
                <a:latin typeface="Times New Roman" panose="02020603050405020304" pitchFamily="18" charset="0"/>
                <a:cs typeface="Times New Roman" panose="02020603050405020304" pitchFamily="18" charset="0"/>
              </a:rPr>
              <a:t>Low attenuation → suitable for long distances </a:t>
            </a:r>
          </a:p>
          <a:p>
            <a:r>
              <a:rPr lang="en-US" sz="2000" dirty="0">
                <a:latin typeface="Times New Roman" panose="02020603050405020304" pitchFamily="18" charset="0"/>
                <a:cs typeface="Times New Roman" panose="02020603050405020304" pitchFamily="18" charset="0"/>
              </a:rPr>
              <a:t>High reliability and secure communication </a:t>
            </a:r>
          </a:p>
          <a:p>
            <a:pPr marL="0" indent="0">
              <a:buNone/>
            </a:pPr>
            <a:r>
              <a:rPr lang="en-US" sz="2000" b="1" dirty="0">
                <a:latin typeface="Times New Roman" panose="02020603050405020304" pitchFamily="18" charset="0"/>
                <a:cs typeface="Times New Roman" panose="02020603050405020304" pitchFamily="18" charset="0"/>
              </a:rPr>
              <a:t> FSO</a:t>
            </a:r>
          </a:p>
          <a:p>
            <a:r>
              <a:rPr lang="en-US" sz="2000" dirty="0">
                <a:latin typeface="Times New Roman" panose="02020603050405020304" pitchFamily="18" charset="0"/>
                <a:cs typeface="Times New Roman" panose="02020603050405020304" pitchFamily="18" charset="0"/>
              </a:rPr>
              <a:t>No physical cables required </a:t>
            </a:r>
          </a:p>
          <a:p>
            <a:r>
              <a:rPr lang="en-US" sz="2000" dirty="0">
                <a:latin typeface="Times New Roman" panose="02020603050405020304" pitchFamily="18" charset="0"/>
                <a:cs typeface="Times New Roman" panose="02020603050405020304" pitchFamily="18" charset="0"/>
              </a:rPr>
              <a:t>Easy and fast deployment </a:t>
            </a:r>
          </a:p>
          <a:p>
            <a:r>
              <a:rPr lang="en-US" sz="2000" dirty="0">
                <a:latin typeface="Times New Roman" panose="02020603050405020304" pitchFamily="18" charset="0"/>
                <a:cs typeface="Times New Roman" panose="02020603050405020304" pitchFamily="18" charset="0"/>
              </a:rPr>
              <a:t>Cost-effective for short distances </a:t>
            </a: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Disadvantages</a:t>
            </a:r>
          </a:p>
          <a:p>
            <a:pPr marL="0" indent="0">
              <a:buNone/>
            </a:pPr>
            <a:r>
              <a:rPr lang="en-US" sz="2000" b="1" dirty="0">
                <a:latin typeface="Times New Roman" panose="02020603050405020304" pitchFamily="18" charset="0"/>
                <a:cs typeface="Times New Roman" panose="02020603050405020304" pitchFamily="18" charset="0"/>
              </a:rPr>
              <a:t> Optical Fiber</a:t>
            </a:r>
          </a:p>
          <a:p>
            <a:r>
              <a:rPr lang="en-US" sz="2000" dirty="0">
                <a:latin typeface="Times New Roman" panose="02020603050405020304" pitchFamily="18" charset="0"/>
                <a:cs typeface="Times New Roman" panose="02020603050405020304" pitchFamily="18" charset="0"/>
              </a:rPr>
              <a:t>High installation cost </a:t>
            </a:r>
          </a:p>
          <a:p>
            <a:r>
              <a:rPr lang="en-US" sz="2000" dirty="0">
                <a:latin typeface="Times New Roman" panose="02020603050405020304" pitchFamily="18" charset="0"/>
                <a:cs typeface="Times New Roman" panose="02020603050405020304" pitchFamily="18" charset="0"/>
              </a:rPr>
              <a:t>Difficult to deploy in remote/rough areas </a:t>
            </a:r>
          </a:p>
          <a:p>
            <a:r>
              <a:rPr lang="en-US" sz="2000" dirty="0">
                <a:latin typeface="Times New Roman" panose="02020603050405020304" pitchFamily="18" charset="0"/>
                <a:cs typeface="Times New Roman" panose="02020603050405020304" pitchFamily="18" charset="0"/>
              </a:rPr>
              <a:t>Maintenance can be complex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  FSO</a:t>
            </a:r>
          </a:p>
          <a:p>
            <a:r>
              <a:rPr lang="en-US" sz="2000" dirty="0">
                <a:latin typeface="Times New Roman" panose="02020603050405020304" pitchFamily="18" charset="0"/>
                <a:cs typeface="Times New Roman" panose="02020603050405020304" pitchFamily="18" charset="0"/>
              </a:rPr>
              <a:t>Highly affected by weather (fog, rain, dust) </a:t>
            </a:r>
          </a:p>
          <a:p>
            <a:r>
              <a:rPr lang="en-US" sz="2000" dirty="0">
                <a:latin typeface="Times New Roman" panose="02020603050405020304" pitchFamily="18" charset="0"/>
                <a:cs typeface="Times New Roman" panose="02020603050405020304" pitchFamily="18" charset="0"/>
              </a:rPr>
              <a:t>Alignment issues </a:t>
            </a:r>
          </a:p>
          <a:p>
            <a:r>
              <a:rPr lang="en-US" sz="2000" dirty="0">
                <a:latin typeface="Times New Roman" panose="02020603050405020304" pitchFamily="18" charset="0"/>
                <a:cs typeface="Times New Roman" panose="02020603050405020304" pitchFamily="18" charset="0"/>
              </a:rPr>
              <a:t>Limited transmission range </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3A82A106-280A-3940-B111-D06499EBEBB2}"/>
              </a:ext>
            </a:extLst>
          </p:cNvPr>
          <p:cNvSpPr>
            <a:spLocks noGrp="1"/>
          </p:cNvSpPr>
          <p:nvPr>
            <p:ph type="dt" sz="half" idx="10"/>
          </p:nvPr>
        </p:nvSpPr>
        <p:spPr>
          <a:xfrm>
            <a:off x="7641771" y="6284483"/>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7A692E04-C41E-793D-5D26-8EC314D0549E}"/>
              </a:ext>
            </a:extLst>
          </p:cNvPr>
          <p:cNvSpPr>
            <a:spLocks noGrp="1"/>
          </p:cNvSpPr>
          <p:nvPr>
            <p:ph type="ftr" sz="quarter" idx="11"/>
          </p:nvPr>
        </p:nvSpPr>
        <p:spPr>
          <a:xfrm>
            <a:off x="906717" y="6322697"/>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1000A9A0-61D0-EDF9-FFD8-D3EB40C0E4B6}"/>
              </a:ext>
            </a:extLst>
          </p:cNvPr>
          <p:cNvSpPr>
            <a:spLocks noGrp="1"/>
          </p:cNvSpPr>
          <p:nvPr>
            <p:ph type="sldNum" sz="quarter" idx="12"/>
          </p:nvPr>
        </p:nvSpPr>
        <p:spPr/>
        <p:txBody>
          <a:bodyPr/>
          <a:lstStyle/>
          <a:p>
            <a:fld id="{6F42FDE4-A7DD-41A7-A0A6-9B649FB43336}" type="slidenum">
              <a:rPr lang="en-US" smtClean="0"/>
              <a:pPr/>
              <a:t>19</a:t>
            </a:fld>
            <a:endParaRPr lang="en-US" dirty="0"/>
          </a:p>
        </p:txBody>
      </p:sp>
    </p:spTree>
    <p:extLst>
      <p:ext uri="{BB962C8B-B14F-4D97-AF65-F5344CB8AC3E}">
        <p14:creationId xmlns:p14="http://schemas.microsoft.com/office/powerpoint/2010/main" val="3033555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D773-5A91-DAAD-8BB7-350F4A0DF486}"/>
              </a:ext>
            </a:extLst>
          </p:cNvPr>
          <p:cNvSpPr>
            <a:spLocks noGrp="1"/>
          </p:cNvSpPr>
          <p:nvPr>
            <p:ph type="title"/>
          </p:nvPr>
        </p:nvSpPr>
        <p:spPr>
          <a:xfrm>
            <a:off x="1945201" y="352740"/>
            <a:ext cx="6589199" cy="636495"/>
          </a:xfrm>
        </p:spPr>
        <p:txBody>
          <a:bodyPr>
            <a:normAutofit fontScale="90000"/>
          </a:bodyPr>
          <a:lstStyle/>
          <a:p>
            <a:r>
              <a:rPr lang="en-IN" b="1" dirty="0">
                <a:latin typeface="Comic Sans MS" panose="030F0702030302020204" pitchFamily="66" charset="0"/>
                <a:ea typeface="Cambria" panose="02040503050406030204" pitchFamily="18" charset="0"/>
              </a:rPr>
              <a:t>APPLICATION </a:t>
            </a:r>
            <a:endParaRPr lang="en-GB" b="1" dirty="0">
              <a:latin typeface="Comic Sans MS" panose="030F0702030302020204" pitchFamily="66" charset="0"/>
              <a:ea typeface="Cambria" panose="02040503050406030204" pitchFamily="18" charset="0"/>
            </a:endParaRPr>
          </a:p>
        </p:txBody>
      </p:sp>
      <p:sp>
        <p:nvSpPr>
          <p:cNvPr id="6" name="Content Placeholder 5">
            <a:extLst>
              <a:ext uri="{FF2B5EF4-FFF2-40B4-BE49-F238E27FC236}">
                <a16:creationId xmlns:a16="http://schemas.microsoft.com/office/drawing/2014/main" id="{01671431-D002-60CB-B3B7-C9DE1FF6E6D1}"/>
              </a:ext>
            </a:extLst>
          </p:cNvPr>
          <p:cNvSpPr>
            <a:spLocks noGrp="1"/>
          </p:cNvSpPr>
          <p:nvPr>
            <p:ph idx="1"/>
          </p:nvPr>
        </p:nvSpPr>
        <p:spPr>
          <a:xfrm>
            <a:off x="803718" y="1704109"/>
            <a:ext cx="7966210" cy="4125191"/>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Optical Fiber</a:t>
            </a:r>
          </a:p>
          <a:p>
            <a:r>
              <a:rPr lang="en-US" sz="2000" dirty="0">
                <a:latin typeface="Times New Roman" panose="02020603050405020304" pitchFamily="18" charset="0"/>
                <a:cs typeface="Times New Roman" panose="02020603050405020304" pitchFamily="18" charset="0"/>
              </a:rPr>
              <a:t>Telecommunication networks </a:t>
            </a:r>
          </a:p>
          <a:p>
            <a:r>
              <a:rPr lang="en-US" sz="2000" dirty="0">
                <a:latin typeface="Times New Roman" panose="02020603050405020304" pitchFamily="18" charset="0"/>
                <a:cs typeface="Times New Roman" panose="02020603050405020304" pitchFamily="18" charset="0"/>
              </a:rPr>
              <a:t>Internet backbone &amp; broadband </a:t>
            </a:r>
          </a:p>
          <a:p>
            <a:r>
              <a:rPr lang="en-US" sz="2000" dirty="0">
                <a:latin typeface="Times New Roman" panose="02020603050405020304" pitchFamily="18" charset="0"/>
                <a:cs typeface="Times New Roman" panose="02020603050405020304" pitchFamily="18" charset="0"/>
              </a:rPr>
              <a:t>Undersea and long-distance communication</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FSO</a:t>
            </a:r>
          </a:p>
          <a:p>
            <a:r>
              <a:rPr lang="en-US" sz="2000" dirty="0">
                <a:latin typeface="Times New Roman" panose="02020603050405020304" pitchFamily="18" charset="0"/>
                <a:cs typeface="Times New Roman" panose="02020603050405020304" pitchFamily="18" charset="0"/>
              </a:rPr>
              <a:t>Last-mile connectivity </a:t>
            </a:r>
          </a:p>
          <a:p>
            <a:r>
              <a:rPr lang="en-US" sz="2000" dirty="0">
                <a:latin typeface="Times New Roman" panose="02020603050405020304" pitchFamily="18" charset="0"/>
                <a:cs typeface="Times New Roman" panose="02020603050405020304" pitchFamily="18" charset="0"/>
              </a:rPr>
              <a:t>Temporary communication links </a:t>
            </a:r>
          </a:p>
          <a:p>
            <a:r>
              <a:rPr lang="en-US" sz="2000" dirty="0">
                <a:latin typeface="Times New Roman" panose="02020603050405020304" pitchFamily="18" charset="0"/>
                <a:cs typeface="Times New Roman" panose="02020603050405020304" pitchFamily="18" charset="0"/>
              </a:rPr>
              <a:t>Military and satellite communication </a:t>
            </a:r>
          </a:p>
        </p:txBody>
      </p:sp>
      <p:sp>
        <p:nvSpPr>
          <p:cNvPr id="3" name="Date Placeholder 2">
            <a:extLst>
              <a:ext uri="{FF2B5EF4-FFF2-40B4-BE49-F238E27FC236}">
                <a16:creationId xmlns:a16="http://schemas.microsoft.com/office/drawing/2014/main" id="{2F635E20-31BF-3E14-B0F8-29B6715C7D35}"/>
              </a:ext>
            </a:extLst>
          </p:cNvPr>
          <p:cNvSpPr>
            <a:spLocks noGrp="1"/>
          </p:cNvSpPr>
          <p:nvPr>
            <p:ph type="dt" sz="half" idx="10"/>
          </p:nvPr>
        </p:nvSpPr>
        <p:spPr>
          <a:xfrm>
            <a:off x="7768020" y="6317651"/>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50626E79-E7C3-599C-D0E0-4DAD60A7DB79}"/>
              </a:ext>
            </a:extLst>
          </p:cNvPr>
          <p:cNvSpPr>
            <a:spLocks noGrp="1"/>
          </p:cNvSpPr>
          <p:nvPr>
            <p:ph type="ftr" sz="quarter" idx="11"/>
          </p:nvPr>
        </p:nvSpPr>
        <p:spPr>
          <a:xfrm>
            <a:off x="803717" y="6322697"/>
            <a:ext cx="6697850"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0DA1602E-A0C2-4202-F0C1-E03C8141B7DC}"/>
              </a:ext>
            </a:extLst>
          </p:cNvPr>
          <p:cNvSpPr>
            <a:spLocks noGrp="1"/>
          </p:cNvSpPr>
          <p:nvPr>
            <p:ph type="sldNum" sz="quarter" idx="12"/>
          </p:nvPr>
        </p:nvSpPr>
        <p:spPr/>
        <p:txBody>
          <a:bodyPr/>
          <a:lstStyle/>
          <a:p>
            <a:fld id="{6F42FDE4-A7DD-41A7-A0A6-9B649FB43336}" type="slidenum">
              <a:rPr lang="en-US" smtClean="0"/>
              <a:pPr/>
              <a:t>20</a:t>
            </a:fld>
            <a:endParaRPr lang="en-US" dirty="0"/>
          </a:p>
        </p:txBody>
      </p:sp>
      <p:sp>
        <p:nvSpPr>
          <p:cNvPr id="8" name="Rectangle 2">
            <a:extLst>
              <a:ext uri="{FF2B5EF4-FFF2-40B4-BE49-F238E27FC236}">
                <a16:creationId xmlns:a16="http://schemas.microsoft.com/office/drawing/2014/main" id="{B223C432-9E99-9923-55D3-AAC329925B88}"/>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467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D059-66B0-03D5-F3AE-DF85FD7379FA}"/>
              </a:ext>
            </a:extLst>
          </p:cNvPr>
          <p:cNvSpPr>
            <a:spLocks noGrp="1"/>
          </p:cNvSpPr>
          <p:nvPr>
            <p:ph type="title"/>
          </p:nvPr>
        </p:nvSpPr>
        <p:spPr>
          <a:xfrm>
            <a:off x="1945201" y="352740"/>
            <a:ext cx="6589199" cy="729611"/>
          </a:xfrm>
        </p:spPr>
        <p:txBody>
          <a:bodyPr>
            <a:normAutofit/>
          </a:bodyPr>
          <a:lstStyle/>
          <a:p>
            <a:r>
              <a:rPr lang="en-IN" sz="3200" b="1" dirty="0">
                <a:latin typeface="Comic Sans MS" panose="030F0702030302020204" pitchFamily="66" charset="0"/>
              </a:rPr>
              <a:t>CONCLUSION :</a:t>
            </a:r>
            <a:endParaRPr lang="en-GB" sz="3200" b="1"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A76E2FD9-3C65-DA13-B477-1DEB05611006}"/>
              </a:ext>
            </a:extLst>
          </p:cNvPr>
          <p:cNvSpPr>
            <a:spLocks noGrp="1"/>
          </p:cNvSpPr>
          <p:nvPr>
            <p:ph idx="1"/>
          </p:nvPr>
        </p:nvSpPr>
        <p:spPr>
          <a:xfrm>
            <a:off x="911791" y="1775324"/>
            <a:ext cx="7492482" cy="3783842"/>
          </a:xfrm>
        </p:spPr>
        <p:txBody>
          <a:bodyPr>
            <a:normAutofit/>
          </a:bodyPr>
          <a:lstStyle/>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Optical Fiber provides stable, reliable, and long-distance communication.</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FSO offers flexibility and low-cost deployment but is weather-dependent.</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Overall, Optical Fiber is more suitable for long-distance communication, while FSO is useful for short-range and quick deployment scenarios.</a:t>
            </a:r>
            <a:endParaRPr lang="en-GB" sz="20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5AF1B0D8-1CA0-FFF1-33B1-40A4786759BA}"/>
              </a:ext>
            </a:extLst>
          </p:cNvPr>
          <p:cNvSpPr>
            <a:spLocks noGrp="1"/>
          </p:cNvSpPr>
          <p:nvPr>
            <p:ph type="dt" sz="half" idx="10"/>
          </p:nvPr>
        </p:nvSpPr>
        <p:spPr>
          <a:xfrm>
            <a:off x="7768020" y="6317651"/>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E49F1225-B251-77E6-18A5-7C549EE1DF21}"/>
              </a:ext>
            </a:extLst>
          </p:cNvPr>
          <p:cNvSpPr>
            <a:spLocks noGrp="1"/>
          </p:cNvSpPr>
          <p:nvPr>
            <p:ph type="ftr" sz="quarter" idx="11"/>
          </p:nvPr>
        </p:nvSpPr>
        <p:spPr>
          <a:xfrm>
            <a:off x="803717" y="6322697"/>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6AEF65A7-16DA-3965-60E6-51D095406A86}"/>
              </a:ext>
            </a:extLst>
          </p:cNvPr>
          <p:cNvSpPr>
            <a:spLocks noGrp="1"/>
          </p:cNvSpPr>
          <p:nvPr>
            <p:ph type="sldNum" sz="quarter" idx="12"/>
          </p:nvPr>
        </p:nvSpPr>
        <p:spPr/>
        <p:txBody>
          <a:bodyPr/>
          <a:lstStyle/>
          <a:p>
            <a:fld id="{6F42FDE4-A7DD-41A7-A0A6-9B649FB43336}" type="slidenum">
              <a:rPr lang="en-US" smtClean="0"/>
              <a:pPr/>
              <a:t>21</a:t>
            </a:fld>
            <a:endParaRPr lang="en-US" dirty="0"/>
          </a:p>
        </p:txBody>
      </p:sp>
    </p:spTree>
    <p:extLst>
      <p:ext uri="{BB962C8B-B14F-4D97-AF65-F5344CB8AC3E}">
        <p14:creationId xmlns:p14="http://schemas.microsoft.com/office/powerpoint/2010/main" val="1342495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9B22-B151-5B94-2926-50344E65D17F}"/>
              </a:ext>
            </a:extLst>
          </p:cNvPr>
          <p:cNvSpPr>
            <a:spLocks noGrp="1"/>
          </p:cNvSpPr>
          <p:nvPr>
            <p:ph type="title"/>
          </p:nvPr>
        </p:nvSpPr>
        <p:spPr>
          <a:xfrm>
            <a:off x="1683944" y="352740"/>
            <a:ext cx="6589199" cy="881954"/>
          </a:xfrm>
        </p:spPr>
        <p:txBody>
          <a:bodyPr>
            <a:normAutofit/>
          </a:bodyPr>
          <a:lstStyle/>
          <a:p>
            <a:r>
              <a:rPr lang="en-IN" sz="3200" b="1" dirty="0">
                <a:latin typeface="Comic Sans MS" panose="030F0702030302020204" pitchFamily="66" charset="0"/>
              </a:rPr>
              <a:t>FUTURE SCOPE :</a:t>
            </a:r>
            <a:endParaRPr lang="en-GB" sz="3200" b="1"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FF20E924-7BC2-F525-0FB7-F5DC706DD9DE}"/>
              </a:ext>
            </a:extLst>
          </p:cNvPr>
          <p:cNvSpPr>
            <a:spLocks noGrp="1"/>
          </p:cNvSpPr>
          <p:nvPr>
            <p:ph idx="1"/>
          </p:nvPr>
        </p:nvSpPr>
        <p:spPr>
          <a:xfrm>
            <a:off x="803717" y="1690072"/>
            <a:ext cx="7697741" cy="5016431"/>
          </a:xfrm>
        </p:spPr>
        <p:txBody>
          <a:bodyPr>
            <a:norm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Development of hybrid FSO-Fiber systems for better reliability.</a:t>
            </a:r>
          </a:p>
          <a:p>
            <a:pPr algn="just"/>
            <a:r>
              <a:rPr lang="en-US" sz="2400" dirty="0">
                <a:latin typeface="Calibri" panose="020F0502020204030204" pitchFamily="34" charset="0"/>
                <a:ea typeface="Calibri" panose="020F0502020204030204" pitchFamily="34" charset="0"/>
                <a:cs typeface="Calibri" panose="020F0502020204030204" pitchFamily="34" charset="0"/>
              </a:rPr>
              <a:t>Use of advanced modulation and DSP techniques.</a:t>
            </a:r>
          </a:p>
          <a:p>
            <a:pPr algn="just"/>
            <a:r>
              <a:rPr lang="en-US" sz="2400" dirty="0">
                <a:latin typeface="Calibri" panose="020F0502020204030204" pitchFamily="34" charset="0"/>
                <a:ea typeface="Calibri" panose="020F0502020204030204" pitchFamily="34" charset="0"/>
                <a:cs typeface="Calibri" panose="020F0502020204030204" pitchFamily="34" charset="0"/>
              </a:rPr>
              <a:t>Integration of AI/ML for performance optimization.</a:t>
            </a:r>
          </a:p>
          <a:p>
            <a:pPr algn="just"/>
            <a:r>
              <a:rPr lang="en-US" sz="2400" dirty="0">
                <a:latin typeface="Calibri" panose="020F0502020204030204" pitchFamily="34" charset="0"/>
                <a:ea typeface="Calibri" panose="020F0502020204030204" pitchFamily="34" charset="0"/>
                <a:cs typeface="Calibri" panose="020F0502020204030204" pitchFamily="34" charset="0"/>
              </a:rPr>
              <a:t>Improvement in FSO systems to reduce weather sensitivity</a:t>
            </a:r>
          </a:p>
          <a:p>
            <a:pPr algn="just"/>
            <a:r>
              <a:rPr lang="en-IN" sz="2400" dirty="0">
                <a:latin typeface="Calibri" panose="020F0502020204030204" pitchFamily="34" charset="0"/>
                <a:ea typeface="Calibri" panose="020F0502020204030204" pitchFamily="34" charset="0"/>
                <a:cs typeface="Calibri" panose="020F0502020204030204" pitchFamily="34" charset="0"/>
              </a:rPr>
              <a:t>Integration with 5G and 6G Networks</a:t>
            </a:r>
          </a:p>
          <a:p>
            <a:pPr algn="just"/>
            <a:r>
              <a:rPr lang="en-IN" sz="2400" dirty="0">
                <a:latin typeface="Calibri" panose="020F0502020204030204" pitchFamily="34" charset="0"/>
                <a:ea typeface="Calibri" panose="020F0502020204030204" pitchFamily="34" charset="0"/>
                <a:cs typeface="Calibri" panose="020F0502020204030204" pitchFamily="34" charset="0"/>
              </a:rPr>
              <a:t>Satellite and Space Communication Applications</a:t>
            </a:r>
          </a:p>
        </p:txBody>
      </p:sp>
      <p:sp>
        <p:nvSpPr>
          <p:cNvPr id="3" name="Date Placeholder 2">
            <a:extLst>
              <a:ext uri="{FF2B5EF4-FFF2-40B4-BE49-F238E27FC236}">
                <a16:creationId xmlns:a16="http://schemas.microsoft.com/office/drawing/2014/main" id="{FE2306FF-0802-0BA9-E8C5-1A3622E7C295}"/>
              </a:ext>
            </a:extLst>
          </p:cNvPr>
          <p:cNvSpPr>
            <a:spLocks noGrp="1"/>
          </p:cNvSpPr>
          <p:nvPr>
            <p:ph type="dt" sz="half" idx="10"/>
          </p:nvPr>
        </p:nvSpPr>
        <p:spPr>
          <a:xfrm>
            <a:off x="7735078" y="6320174"/>
            <a:ext cx="766380" cy="370171"/>
          </a:xfrm>
        </p:spPr>
        <p:txBody>
          <a:bodyPr/>
          <a:lstStyle/>
          <a:p>
            <a:r>
              <a:rPr lang="en-US" dirty="0"/>
              <a:t>2025-2026</a:t>
            </a:r>
          </a:p>
        </p:txBody>
      </p:sp>
      <p:sp>
        <p:nvSpPr>
          <p:cNvPr id="4" name="Footer Placeholder 3">
            <a:extLst>
              <a:ext uri="{FF2B5EF4-FFF2-40B4-BE49-F238E27FC236}">
                <a16:creationId xmlns:a16="http://schemas.microsoft.com/office/drawing/2014/main" id="{A3FFA820-18A7-5D96-90FB-A42FC9066FD0}"/>
              </a:ext>
            </a:extLst>
          </p:cNvPr>
          <p:cNvSpPr>
            <a:spLocks noGrp="1"/>
          </p:cNvSpPr>
          <p:nvPr>
            <p:ph type="ftr" sz="quarter" idx="11"/>
          </p:nvPr>
        </p:nvSpPr>
        <p:spPr>
          <a:xfrm>
            <a:off x="520559" y="6341378"/>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0AEC9F68-3B9F-D1D5-04EC-84769E13561D}"/>
              </a:ext>
            </a:extLst>
          </p:cNvPr>
          <p:cNvSpPr>
            <a:spLocks noGrp="1"/>
          </p:cNvSpPr>
          <p:nvPr>
            <p:ph type="sldNum" sz="quarter" idx="12"/>
          </p:nvPr>
        </p:nvSpPr>
        <p:spPr/>
        <p:txBody>
          <a:bodyPr/>
          <a:lstStyle/>
          <a:p>
            <a:fld id="{6F42FDE4-A7DD-41A7-A0A6-9B649FB43336}" type="slidenum">
              <a:rPr lang="en-US" smtClean="0"/>
              <a:pPr/>
              <a:t>22</a:t>
            </a:fld>
            <a:endParaRPr lang="en-US" dirty="0"/>
          </a:p>
        </p:txBody>
      </p:sp>
    </p:spTree>
    <p:extLst>
      <p:ext uri="{BB962C8B-B14F-4D97-AF65-F5344CB8AC3E}">
        <p14:creationId xmlns:p14="http://schemas.microsoft.com/office/powerpoint/2010/main" val="250753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12A50-8274-1EDD-0953-6CAED1913DC2}"/>
              </a:ext>
            </a:extLst>
          </p:cNvPr>
          <p:cNvSpPr>
            <a:spLocks noGrp="1"/>
          </p:cNvSpPr>
          <p:nvPr>
            <p:ph type="title"/>
          </p:nvPr>
        </p:nvSpPr>
        <p:spPr>
          <a:xfrm>
            <a:off x="1558212" y="261257"/>
            <a:ext cx="6537046" cy="727788"/>
          </a:xfrm>
        </p:spPr>
        <p:txBody>
          <a:bodyPr>
            <a:normAutofit/>
          </a:bodyPr>
          <a:lstStyle/>
          <a:p>
            <a:r>
              <a:rPr lang="en-IN" sz="3200" b="1" dirty="0">
                <a:latin typeface="Comic Sans MS" panose="030F0702030302020204" pitchFamily="66" charset="0"/>
              </a:rPr>
              <a:t> REFERNCES :</a:t>
            </a:r>
            <a:endParaRPr lang="en-GB" sz="3200" b="1"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70D6B0FB-8BA4-0791-2460-C69000830A95}"/>
              </a:ext>
            </a:extLst>
          </p:cNvPr>
          <p:cNvSpPr>
            <a:spLocks noGrp="1"/>
          </p:cNvSpPr>
          <p:nvPr>
            <p:ph idx="1"/>
          </p:nvPr>
        </p:nvSpPr>
        <p:spPr>
          <a:xfrm>
            <a:off x="162552" y="1367791"/>
            <a:ext cx="8818896" cy="4973587"/>
          </a:xfrm>
        </p:spPr>
        <p:txBody>
          <a:bodyPr>
            <a:normAutofit/>
          </a:bodyPr>
          <a:lstStyle/>
          <a:p>
            <a:endParaRPr lang="en-IN" sz="2000" dirty="0"/>
          </a:p>
          <a:p>
            <a:pPr marL="0" indent="0">
              <a:buNone/>
            </a:pPr>
            <a:endParaRPr lang="en-GB" sz="2000"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B6551B07-CF7B-2399-B804-B3B830AD008E}"/>
              </a:ext>
            </a:extLst>
          </p:cNvPr>
          <p:cNvSpPr>
            <a:spLocks noGrp="1"/>
          </p:cNvSpPr>
          <p:nvPr>
            <p:ph type="dt" sz="half" idx="10"/>
          </p:nvPr>
        </p:nvSpPr>
        <p:spPr>
          <a:xfrm>
            <a:off x="7772400" y="6341378"/>
            <a:ext cx="766380" cy="365125"/>
          </a:xfrm>
        </p:spPr>
        <p:txBody>
          <a:bodyPr/>
          <a:lstStyle/>
          <a:p>
            <a:r>
              <a:rPr lang="en-US" dirty="0"/>
              <a:t>2025-2026</a:t>
            </a:r>
          </a:p>
        </p:txBody>
      </p:sp>
      <p:sp>
        <p:nvSpPr>
          <p:cNvPr id="4" name="Footer Placeholder 3">
            <a:extLst>
              <a:ext uri="{FF2B5EF4-FFF2-40B4-BE49-F238E27FC236}">
                <a16:creationId xmlns:a16="http://schemas.microsoft.com/office/drawing/2014/main" id="{65077E1B-E666-AFA6-D53C-B3EB7FA35419}"/>
              </a:ext>
            </a:extLst>
          </p:cNvPr>
          <p:cNvSpPr>
            <a:spLocks noGrp="1"/>
          </p:cNvSpPr>
          <p:nvPr>
            <p:ph type="ftr" sz="quarter" idx="11"/>
          </p:nvPr>
        </p:nvSpPr>
        <p:spPr>
          <a:xfrm>
            <a:off x="605220" y="6373698"/>
            <a:ext cx="5716488" cy="365125"/>
          </a:xfrm>
        </p:spPr>
        <p:txBody>
          <a:bodyPr/>
          <a:lstStyle/>
          <a:p>
            <a:r>
              <a:rPr lang="en-US" dirty="0"/>
              <a:t>Dept. of E&amp;TC, SCOE, Pune</a:t>
            </a:r>
          </a:p>
        </p:txBody>
      </p:sp>
      <p:sp>
        <p:nvSpPr>
          <p:cNvPr id="5" name="Slide Number Placeholder 4">
            <a:extLst>
              <a:ext uri="{FF2B5EF4-FFF2-40B4-BE49-F238E27FC236}">
                <a16:creationId xmlns:a16="http://schemas.microsoft.com/office/drawing/2014/main" id="{1143994A-8D22-FC3C-F049-20DD416504A7}"/>
              </a:ext>
            </a:extLst>
          </p:cNvPr>
          <p:cNvSpPr>
            <a:spLocks noGrp="1"/>
          </p:cNvSpPr>
          <p:nvPr>
            <p:ph type="sldNum" sz="quarter" idx="12"/>
          </p:nvPr>
        </p:nvSpPr>
        <p:spPr/>
        <p:txBody>
          <a:bodyPr/>
          <a:lstStyle/>
          <a:p>
            <a:fld id="{6F42FDE4-A7DD-41A7-A0A6-9B649FB43336}" type="slidenum">
              <a:rPr lang="en-US" smtClean="0"/>
              <a:pPr/>
              <a:t>23</a:t>
            </a:fld>
            <a:endParaRPr lang="en-US" dirty="0"/>
          </a:p>
        </p:txBody>
      </p:sp>
      <p:sp>
        <p:nvSpPr>
          <p:cNvPr id="8" name="Rectangle 2">
            <a:extLst>
              <a:ext uri="{FF2B5EF4-FFF2-40B4-BE49-F238E27FC236}">
                <a16:creationId xmlns:a16="http://schemas.microsoft.com/office/drawing/2014/main" id="{DDD6A146-E00F-EC28-459C-C7FBBA1C66CD}"/>
              </a:ext>
            </a:extLst>
          </p:cNvPr>
          <p:cNvSpPr>
            <a:spLocks noChangeArrowheads="1"/>
          </p:cNvSpPr>
          <p:nvPr/>
        </p:nvSpPr>
        <p:spPr bwMode="auto">
          <a:xfrm>
            <a:off x="716807" y="1766580"/>
            <a:ext cx="821985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H. Willebrand and B. S. Ghuman, Free Space Optics: Enabling Optical Connectivity in Today’s Networks. Indianapolis, USA: Sams Publishing, 2002.</a:t>
            </a:r>
          </a:p>
          <a:p>
            <a:pPr marR="0" lvl="0" algn="just" defTabSz="914400" rtl="0" eaLnBrk="0" fontAlgn="base" latinLnBrk="0" hangingPunct="0">
              <a:lnSpc>
                <a:spcPct val="100000"/>
              </a:lnSpc>
              <a:spcBef>
                <a:spcPct val="0"/>
              </a:spcBef>
              <a:spcAft>
                <a:spcPct val="0"/>
              </a:spcAft>
              <a:buClrTx/>
              <a:buSzTx/>
              <a:tabLst/>
            </a:pP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 Majumdar and J. C. Ricklin, Free-Space Laser Communications: Principles and Advances. New York, USA: Springer, 2008.</a:t>
            </a:r>
          </a:p>
          <a:p>
            <a:pPr marR="0" lvl="0" algn="just" defTabSz="914400" rtl="0" eaLnBrk="0" fontAlgn="base" latinLnBrk="0" hangingPunct="0">
              <a:lnSpc>
                <a:spcPct val="100000"/>
              </a:lnSpc>
              <a:spcBef>
                <a:spcPct val="0"/>
              </a:spcBef>
              <a:spcAft>
                <a:spcPct val="0"/>
              </a:spcAft>
              <a:buClrTx/>
              <a:buSzTx/>
              <a:tabLst/>
            </a:pP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G. P. Agrawal, Fiber-Optic Communication Systems, 4th ed. New York, USA: Wiley, 2010.</a:t>
            </a:r>
          </a:p>
          <a:p>
            <a:pPr marR="0" lvl="0" algn="just" defTabSz="914400" rtl="0" eaLnBrk="0" fontAlgn="base" latinLnBrk="0" hangingPunct="0">
              <a:lnSpc>
                <a:spcPct val="100000"/>
              </a:lnSpc>
              <a:spcBef>
                <a:spcPct val="0"/>
              </a:spcBef>
              <a:spcAft>
                <a:spcPct val="0"/>
              </a:spcAft>
              <a:buClrTx/>
              <a:buSzTx/>
              <a:tabLst/>
            </a:pP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J. M. Senior and M. Y.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Jamro</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Optical Fiber Communications: Principles and Practice, 3rd ed. London, U.K.: Pearson, 2009.</a:t>
            </a:r>
          </a:p>
          <a:p>
            <a:pPr marR="0" lvl="0" algn="just" defTabSz="914400" rtl="0" eaLnBrk="0" fontAlgn="base" latinLnBrk="0" hangingPunct="0">
              <a:lnSpc>
                <a:spcPct val="100000"/>
              </a:lnSpc>
              <a:spcBef>
                <a:spcPct val="0"/>
              </a:spcBef>
              <a:spcAft>
                <a:spcPct val="0"/>
              </a:spcAft>
              <a:buClrTx/>
              <a:buSzTx/>
              <a:tabLst/>
            </a:pP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X. Zhu and J. M. Kahn, “Free-space optical communication through atmospheric turbulence channels,” IEEE Transactions on Communications, vol. 50, no. 8, pp. 1293–1300, Aug. 2002.</a:t>
            </a:r>
          </a:p>
        </p:txBody>
      </p:sp>
    </p:spTree>
    <p:extLst>
      <p:ext uri="{BB962C8B-B14F-4D97-AF65-F5344CB8AC3E}">
        <p14:creationId xmlns:p14="http://schemas.microsoft.com/office/powerpoint/2010/main" val="2047616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a:t>2025-2026</a:t>
            </a:r>
          </a:p>
        </p:txBody>
      </p:sp>
      <p:sp>
        <p:nvSpPr>
          <p:cNvPr id="4" name="Footer Placeholder 3"/>
          <p:cNvSpPr>
            <a:spLocks noGrp="1"/>
          </p:cNvSpPr>
          <p:nvPr>
            <p:ph type="ftr" sz="quarter" idx="11"/>
          </p:nvPr>
        </p:nvSpPr>
        <p:spPr/>
        <p:txBody>
          <a:bodyPr/>
          <a:lstStyle/>
          <a:p>
            <a:r>
              <a:rPr lang="en-US" dirty="0"/>
              <a:t>Dept. of E&amp;TC, SCOE, Pune</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24</a:t>
            </a:fld>
            <a:endParaRPr lang="en-US" dirty="0"/>
          </a:p>
        </p:txBody>
      </p:sp>
      <p:sp>
        <p:nvSpPr>
          <p:cNvPr id="7" name="Rectangle 6"/>
          <p:cNvSpPr/>
          <p:nvPr/>
        </p:nvSpPr>
        <p:spPr>
          <a:xfrm>
            <a:off x="1367182" y="2830855"/>
            <a:ext cx="6409640" cy="1200329"/>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just"/>
            <a:r>
              <a:rPr lang="en-US" sz="7200" b="1" cap="all" spc="0" dirty="0">
                <a:ln/>
                <a:solidFill>
                  <a:schemeClr val="accent5">
                    <a:lumMod val="75000"/>
                  </a:schemeClr>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Rockwell Extra Bold" panose="02060903040505020403" pitchFamily="18" charset="0"/>
              </a:rPr>
              <a:t>Thank  YoU</a:t>
            </a:r>
          </a:p>
        </p:txBody>
      </p:sp>
    </p:spTree>
    <p:extLst>
      <p:ext uri="{BB962C8B-B14F-4D97-AF65-F5344CB8AC3E}">
        <p14:creationId xmlns:p14="http://schemas.microsoft.com/office/powerpoint/2010/main" val="3604074441"/>
      </p:ext>
    </p:extLst>
  </p:cSld>
  <p:clrMapOvr>
    <a:masterClrMapping/>
  </p:clrMapOvr>
  <p:transition spd="slow">
    <p:push dir="u"/>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7209</TotalTime>
  <Words>1972</Words>
  <Application>Microsoft Office PowerPoint</Application>
  <PresentationFormat>On-screen Show (4:3)</PresentationFormat>
  <Paragraphs>311</Paragraphs>
  <Slides>24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Aptos</vt:lpstr>
      <vt:lpstr>Arial</vt:lpstr>
      <vt:lpstr>Calibri</vt:lpstr>
      <vt:lpstr>Cambria</vt:lpstr>
      <vt:lpstr>Century Gothic</vt:lpstr>
      <vt:lpstr>Comic Sans MS</vt:lpstr>
      <vt:lpstr>Footlight MT Light</vt:lpstr>
      <vt:lpstr>Rockwell Extra Bold</vt:lpstr>
      <vt:lpstr>Times New Roman</vt:lpstr>
      <vt:lpstr>Wingdings</vt:lpstr>
      <vt:lpstr>Wingdings 3</vt:lpstr>
      <vt:lpstr>Wisp</vt:lpstr>
      <vt:lpstr>Design and Performance Evaluation of Free Space Optics and Fiber Optic Communication Systems</vt:lpstr>
      <vt:lpstr>Content</vt:lpstr>
      <vt:lpstr> Introduction  To Radio Over Fiber Communication System   </vt:lpstr>
      <vt:lpstr>Literature Survey </vt:lpstr>
      <vt:lpstr>Literature Survey </vt:lpstr>
      <vt:lpstr> Aim and Objective</vt:lpstr>
      <vt:lpstr>Block Diagram </vt:lpstr>
      <vt:lpstr>Block Diagram </vt:lpstr>
      <vt:lpstr>PowerPoint Presentation</vt:lpstr>
      <vt:lpstr>PowerPoint Presentation</vt:lpstr>
      <vt:lpstr>PowerPoint Presentation</vt:lpstr>
      <vt:lpstr>Components Used  </vt:lpstr>
      <vt:lpstr>Circuit Diagram on OptiSystem  </vt:lpstr>
      <vt:lpstr>Simulation Result on OptiSystem :</vt:lpstr>
      <vt:lpstr>Simulation Result on OptiSystem :</vt:lpstr>
      <vt:lpstr>Circuit Diagram on OptiSystem  </vt:lpstr>
      <vt:lpstr>Simulation Result on OptiSystem :</vt:lpstr>
      <vt:lpstr>Simulation Result on OptiSystem :</vt:lpstr>
      <vt:lpstr>Advantages &amp; Disadvantages</vt:lpstr>
      <vt:lpstr>APPLICATION </vt:lpstr>
      <vt:lpstr>CONCLUSION :</vt:lpstr>
      <vt:lpstr>FUTURE SCOPE :</vt:lpstr>
      <vt:lpstr> REFERNCES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Sankalp Wasnik</cp:lastModifiedBy>
  <cp:revision>266</cp:revision>
  <cp:lastPrinted>2025-06-09T05:14:09Z</cp:lastPrinted>
  <dcterms:created xsi:type="dcterms:W3CDTF">2014-09-16T21:34:04Z</dcterms:created>
  <dcterms:modified xsi:type="dcterms:W3CDTF">2026-06-25T04:43:29Z</dcterms:modified>
</cp:coreProperties>
</file>